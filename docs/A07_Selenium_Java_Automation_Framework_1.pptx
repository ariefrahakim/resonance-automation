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— A07 turns the locator knowledge from A05/A06 into a real, maintainable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150 minute session, five theory blocks then the hands-on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— by the end of the session every student has a running project on their own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— Part 1: WebDriver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1/35 — Selenium WebDriver — the four layers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2/35 — One command, end to 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3/35 — The W3C WebDriver protocol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4/35 — Selenium Manager — drivers, handled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— Part 2: Framework Components.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5/35 — What a framework actually adds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6/35 — The eight components of a BDD framework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7/35 — Who owns which responsibility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— Part 3: IntelliJ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8/35 — Before you start — prerequisites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9/35 — Create a Maven project — step by step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10/35 — Create a Gradle project — step by step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11/35 — Create the packages — step by step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12/35 — Maven standard directory layout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— Part 4: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13/35 — pom.xml — the anatomy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14/35 — The complete dependency block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15/35 — build.gradle — the same 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16/35 — Maven vs Gradle for a QA team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17/35 — Surefire, and running the suite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— Part 5: WebDriver Config.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18/35 — config.properties — SauceDemo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19/35 — ConfigReader — load it once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20/35 — DriverFactory — one driver per thread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21/35 — Creating the driver — options and headless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22/35 — Hooks — the scenario lifecycle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— Part 6: BDD — Login &amp; Checkout.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23/35 — Gherkin in sixty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24/35 — Module 1 — login.feature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25/35 — Module 2 — checkout.feature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26/35 — Page object — LoginPage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27/35 — Page object — CheckoutPage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28/35 — Step definitions — LoginSteps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29/35 — Step definitions — CheckoutSteps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30/35 — TestRunner — and running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— Part 7: Skeleton &amp; 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31/35 — The best-practice skeleton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32/35 — Scaling checklist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33/35 — Best practices — do and don’t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34/35 — References — Selenium &amp; BDD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35/35 — References — build tools &amp; 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takeaways — six rules that cover almost every locator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21808" y="0"/>
            <a:ext cx="3553358" cy="5143500"/>
          </a:xfrm>
          <a:prstGeom prst="rect">
            <a:avLst/>
          </a:prstGeom>
        </p:spPr>
      </p:pic>
      <p:pic>
        <p:nvPicPr>
          <p:cNvPr id="4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268273" cy="3840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1558" y="157276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A07  ·  AUTOMATION FRAMEWORK</a:t>
            </a:r>
            <a:endParaRPr lang="en-US" sz="950" dirty="0"/>
          </a:p>
        </p:txBody>
      </p:sp>
      <p:sp>
        <p:nvSpPr>
          <p:cNvPr id="6" name="Text 2"/>
          <p:cNvSpPr/>
          <p:nvPr/>
        </p:nvSpPr>
        <p:spPr>
          <a:xfrm>
            <a:off x="581558" y="1883664"/>
            <a:ext cx="453268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Selenium Java</a:t>
            </a:r>
            <a:endParaRPr lang="en-US" sz="2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Automation</a:t>
            </a:r>
            <a:endParaRPr lang="en-US" sz="2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Framework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669341" y="334670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“Structure, dependencies, WebDriver config and a BDD skeleton”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Selenium 4.47  •  Cucumber 7.34  •  TestNG 7.11  •  IntelliJ IDEA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66928" y="42062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3" name="Shape 1"/>
          <p:cNvSpPr/>
          <p:nvPr/>
        </p:nvSpPr>
        <p:spPr>
          <a:xfrm>
            <a:off x="3667658" y="0"/>
            <a:ext cx="5476342" cy="5143500"/>
          </a:xfrm>
          <a:prstGeom prst="rect">
            <a:avLst/>
          </a:prstGeom>
          <a:solidFill>
            <a:srgbClr val="34BF79"/>
          </a:solidFill>
          <a:ln/>
        </p:spPr>
      </p:sp>
      <p:sp>
        <p:nvSpPr>
          <p:cNvPr id="4" name="Text 2"/>
          <p:cNvSpPr/>
          <p:nvPr/>
        </p:nvSpPr>
        <p:spPr>
          <a:xfrm>
            <a:off x="687629" y="15544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Today’s</a:t>
            </a:r>
            <a:endParaRPr lang="en-US" sz="27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Agenda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" y="32918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“You can already find any element.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Today you build the project that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turns those locators into a suite.”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069080" y="1097280"/>
            <a:ext cx="47091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🏛️   </a:t>
            </a:r>
            <a:pPr indent="0" marL="0">
              <a:lnSpc>
                <a:spcPts val="1600"/>
              </a:lnSpc>
              <a:spcAft>
                <a:spcPts val="12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Selenium WebDriver architecture</a:t>
            </a:r>
            <a:endParaRPr lang="en-US" sz="1150" dirty="0"/>
          </a:p>
          <a:p>
            <a:pPr indent="0" marL="0">
              <a:lnSpc>
                <a:spcPts val="16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🧩   </a:t>
            </a:r>
            <a:pPr indent="0" marL="0">
              <a:lnSpc>
                <a:spcPts val="1600"/>
              </a:lnSpc>
              <a:spcAft>
                <a:spcPts val="12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Automation framework components</a:t>
            </a:r>
            <a:endParaRPr lang="en-US" sz="1150" dirty="0"/>
          </a:p>
          <a:p>
            <a:pPr indent="0" marL="0">
              <a:lnSpc>
                <a:spcPts val="16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💻   </a:t>
            </a:r>
            <a:pPr indent="0" marL="0">
              <a:lnSpc>
                <a:spcPts val="1600"/>
              </a:lnSpc>
              <a:spcAft>
                <a:spcPts val="12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Creating the project in IntelliJ IDEA</a:t>
            </a:r>
            <a:endParaRPr lang="en-US" sz="1150" dirty="0"/>
          </a:p>
          <a:p>
            <a:pPr indent="0" marL="0">
              <a:lnSpc>
                <a:spcPts val="16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📦   </a:t>
            </a:r>
            <a:pPr indent="0" marL="0">
              <a:lnSpc>
                <a:spcPts val="1600"/>
              </a:lnSpc>
              <a:spcAft>
                <a:spcPts val="12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Dependency management — Maven &amp; Gradle</a:t>
            </a:r>
            <a:endParaRPr lang="en-US" sz="1150" dirty="0"/>
          </a:p>
          <a:p>
            <a:pPr indent="0" marL="0">
              <a:lnSpc>
                <a:spcPts val="16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⚙️   </a:t>
            </a:r>
            <a:pPr indent="0" marL="0">
              <a:lnSpc>
                <a:spcPts val="1600"/>
              </a:lnSpc>
              <a:spcAft>
                <a:spcPts val="12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WebDriver configuration &amp; config.properties</a:t>
            </a:r>
            <a:endParaRPr lang="en-US" sz="1150" dirty="0"/>
          </a:p>
          <a:p>
            <a:pPr indent="0" marL="0">
              <a:lnSpc>
                <a:spcPts val="16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🥒   </a:t>
            </a:r>
            <a:pPr indent="0" marL="0">
              <a:lnSpc>
                <a:spcPts val="1600"/>
              </a:lnSpc>
              <a:spcAft>
                <a:spcPts val="12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BDD with Cucumber — Login &amp; Checkout</a:t>
            </a:r>
            <a:endParaRPr lang="en-US" sz="1150" dirty="0"/>
          </a:p>
          <a:p>
            <a:pPr indent="0" marL="0">
              <a:lnSpc>
                <a:spcPts val="16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🏗️   </a:t>
            </a:r>
            <a:pPr indent="0" marL="0">
              <a:lnSpc>
                <a:spcPts val="1600"/>
              </a:lnSpc>
              <a:spcAft>
                <a:spcPts val="12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scalable, best-practice project structure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SESSION OBJECTIVES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🎯  By the end of this session you can…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Shape 5"/>
          <p:cNvSpPr/>
          <p:nvPr/>
        </p:nvSpPr>
        <p:spPr>
          <a:xfrm>
            <a:off x="694944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🏛️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25296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Understand WebDriver architecture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25296" y="1572768"/>
            <a:ext cx="3273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Know the four layers between your test code and the browser, and what the W3C protocol standardises.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37176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65192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🧩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67528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Understand framework components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67528" y="1572768"/>
            <a:ext cx="3273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Identify every layer of a framework — driver, config, pages, steps, features, runner, reports.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94944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📦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25296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Understand dependency management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225296" y="2615184"/>
            <a:ext cx="3273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Read and write a pom.xml or build.gradle, and manage versions in one place.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37176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65192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💻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67528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Create the project in IntelliJ IDEA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367528" y="2615184"/>
            <a:ext cx="3273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Build a Maven or Gradle Selenium project from the New Project wizard, package by package.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94944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⚙️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25296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Configure WebDriver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225296" y="3657600"/>
            <a:ext cx="3273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Set up a DriverFactory, ChromeOptions, waits and an externalised config.properties.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837176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5192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🥒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367528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Write your first automated test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367528" y="3657600"/>
            <a:ext cx="3273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Automate the SauceDemo Login and Checkout modules as Gherkin scenarios.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🚀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Application under test: https://www.saucedemo.com    •    Two modules automated today: Login and Checkout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3" name="Shape 1"/>
          <p:cNvSpPr/>
          <p:nvPr/>
        </p:nvSpPr>
        <p:spPr>
          <a:xfrm>
            <a:off x="3667658" y="0"/>
            <a:ext cx="5476342" cy="5143500"/>
          </a:xfrm>
          <a:prstGeom prst="rect">
            <a:avLst/>
          </a:prstGeom>
          <a:solidFill>
            <a:srgbClr val="34BF79"/>
          </a:solidFill>
          <a:ln/>
        </p:spPr>
      </p:sp>
      <p:sp>
        <p:nvSpPr>
          <p:cNvPr id="4" name="Text 2"/>
          <p:cNvSpPr/>
          <p:nvPr/>
        </p:nvSpPr>
        <p:spPr>
          <a:xfrm>
            <a:off x="687629" y="1572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7629" y="190195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WebDriver Architecture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3703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“Your test never talks to the browser. It talks to a driver.”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69080" y="141732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950" b="1" spc="160" kern="0" dirty="0">
                <a:solidFill>
                  <a:srgbClr val="D9F5E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SLIDES 1 – 4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🏛️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four layers of Selenium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🔌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W3C WebDriver protocol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🚗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Selenium Manager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 / 35   ·   WEBDRIVER ARCHITECTURE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Selenium WebDriver — the four layers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Shape 5"/>
          <p:cNvSpPr/>
          <p:nvPr/>
        </p:nvSpPr>
        <p:spPr>
          <a:xfrm>
            <a:off x="694944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1️⃣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25296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Your test code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25296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Java classes using the Selenium bindings: driver.findElement(...), click(), sendKeys(). This is all you write.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37176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65192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2️⃣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67528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language binding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67528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selenium-java translates every call into a JSON command and sends it over HTTP to the driver.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94944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3️⃣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25296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browser driver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225296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chromedriver, geckodriver, msedgedriver. A small HTTP server that speaks the W3C protocol.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37176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65192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4️⃣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67528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browser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367528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Chrome, Firefox or Edge executes the real action and returns the result back up the same chain.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94944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🔌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25296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wire in between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225296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HTTP requests carrying JSON, defined by the W3C WebDriver specification — not by Selenium itself.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837176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5192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🌐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367528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Local or remote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367528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Point the same code at a Selenium Grid or a cloud vendor by swapping the driver for a RemoteWebDriver.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🏛️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Selenium is a client library. The driver is the server. Understanding that split explains almost every error you will see.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 / 35   ·   WEBDRIVER ARCHITECTURE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command, end to end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225359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you write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417383"/>
            <a:ext cx="4937760" cy="810260"/>
          </a:xfrm>
          <a:prstGeom prst="roundRect">
            <a:avLst>
              <a:gd name="adj" fmla="val 6771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508824"/>
            <a:ext cx="4736592" cy="627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WebDriver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ChromeDriver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"https://www.saucedemo.com"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findElement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"user-name"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sendKeys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"standard_user"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13232" y="2364803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actually travels over the wire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94944" y="2556827"/>
            <a:ext cx="4937760" cy="1594485"/>
          </a:xfrm>
          <a:prstGeom prst="roundRect">
            <a:avLst>
              <a:gd name="adj" fmla="val 3441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2648267"/>
            <a:ext cx="4736592" cy="1411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binding opens a session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{ 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capabilities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navigate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}/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{ 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"..."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find, then act on the returned element id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}/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{ 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}/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}/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{ 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52160" y="1215866"/>
            <a:ext cx="2916936" cy="1477582"/>
          </a:xfrm>
          <a:prstGeom prst="roundRect">
            <a:avLst>
              <a:gd name="adj" fmla="val 3713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128901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WHY THIS MATTERS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07608" y="1554194"/>
            <a:ext cx="2606040" cy="1047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Selenium call is one HTTP round trip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Fewer, smarter locators means a faster suite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same protocol works locally and on a Grid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852160" y="2839752"/>
            <a:ext cx="2916936" cy="1321054"/>
          </a:xfrm>
          <a:prstGeom prst="roundRect">
            <a:avLst>
              <a:gd name="adj" fmla="val 4153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89320" y="2912904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WHAT IT EXPLAINS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007608" y="3178080"/>
            <a:ext cx="2606040" cy="8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SessionNotCreatedException — step 1 failed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driver/browser version mismatch breaks step 1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Slow tests are usually too many round trips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driver.quit() sends DELETE /session — skip it and you leak a browser process on every run.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 / 35   ·   WEBDRIVER ARCHITECTURE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W3C WebDriver protocol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Shape 5"/>
          <p:cNvSpPr/>
          <p:nvPr/>
        </p:nvSpPr>
        <p:spPr>
          <a:xfrm>
            <a:off x="694944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📜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25296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W3C standard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25296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WebDriver is a published W3C specification, not a Selenium API. Browser vendors implement it themselves.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37176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65192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🤝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67528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Vendor-maintained drivers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67528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Google ships chromedriver, Mozilla ships geckodriver, Microsoft ships msedgedriver.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94944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🔄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25296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Selenium 4 is W3C-only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225296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old JSON Wire Protocol was removed in Selenium 4. Capabilities must now be W3C-compliant.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37176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65192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🧰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67528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Options over DesiredCapabilities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367528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ChromeOptions, FirefoxOptions and EdgeOptions replaced the deprecated DesiredCapabilities class.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94944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♻️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25296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Portable by design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225296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Because the protocol is standard, the same test code drives any compliant browser.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837176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5192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🧪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367528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Also used by others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367528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Appium and several cloud grids speak the same protocol, which is why Selenium skills transfer.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📎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Reference: W3C WebDriver specification — https://www.w3.org/TR/webdriver2/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 / 35   ·   WEBDRIVER ARCHITECTURE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Selenium Manager — drivers, handled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336802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Before Selenium 4.6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528826"/>
            <a:ext cx="4937760" cy="1173480"/>
          </a:xfrm>
          <a:prstGeom prst="roundRect">
            <a:avLst>
              <a:gd name="adj" fmla="val 4675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620266"/>
            <a:ext cx="473659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download chromedriver by hand, or add a library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WebDriverManager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chromedriver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setProperty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"webdriver.chrome.driver"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"/drivers/chromedriver"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WebDriver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ChromeDriver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13232" y="2839466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Selenium 4.6 and later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94944" y="3031490"/>
            <a:ext cx="4937760" cy="1008380"/>
          </a:xfrm>
          <a:prstGeom prst="roundRect">
            <a:avLst>
              <a:gd name="adj" fmla="val 5441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3122930"/>
            <a:ext cx="47365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nothing else required — Selenium Manager finds,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downloads and caches the right driver for you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WebDriver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ChromeDriver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cache lives in ~/.cache/selenium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1229868"/>
            <a:ext cx="2916936" cy="1339088"/>
          </a:xfrm>
          <a:prstGeom prst="roundRect">
            <a:avLst>
              <a:gd name="adj" fmla="val 4097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130302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WHAT IT DOES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07608" y="1568196"/>
            <a:ext cx="2606040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Detects the installed browser version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Resolves and downloads the matching driver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Caches it, so later runs start instantly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Since 4.11 it can download the browser too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852160" y="2715260"/>
            <a:ext cx="2916936" cy="1431544"/>
          </a:xfrm>
          <a:prstGeom prst="roundRect">
            <a:avLst>
              <a:gd name="adj" fmla="val 3833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89320" y="278841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THINGS TO KNOW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07608" y="3053588"/>
            <a:ext cx="2606040" cy="100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Still officially beta — pin your Selenium version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Needs network access on the very first run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Behind a corporate proxy, configure it explicitly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 no longer need WebDriverManager as a dependency. Reference: selenium.dev/documentation/selenium_manager/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3" name="Shape 1"/>
          <p:cNvSpPr/>
          <p:nvPr/>
        </p:nvSpPr>
        <p:spPr>
          <a:xfrm>
            <a:off x="3667658" y="0"/>
            <a:ext cx="5476342" cy="5143500"/>
          </a:xfrm>
          <a:prstGeom prst="rect">
            <a:avLst/>
          </a:prstGeom>
          <a:solidFill>
            <a:srgbClr val="34BF79"/>
          </a:solidFill>
          <a:ln/>
        </p:spPr>
      </p:sp>
      <p:sp>
        <p:nvSpPr>
          <p:cNvPr id="4" name="Text 2"/>
          <p:cNvSpPr/>
          <p:nvPr/>
        </p:nvSpPr>
        <p:spPr>
          <a:xfrm>
            <a:off x="687629" y="1572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7629" y="190195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Framework Components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3703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“A framework is what stops test #200 from being harder than test #2.”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69080" y="141732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950" b="1" spc="160" kern="0" dirty="0">
                <a:solidFill>
                  <a:srgbClr val="D9F5E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SLIDES 5 – 7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🧩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a framework really adds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🗂️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eight components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⚖️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Who owns which responsibility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 / 35   ·   FRAMEWORK COMPONENTS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a framework actually adds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Shape 5"/>
          <p:cNvSpPr/>
          <p:nvPr/>
        </p:nvSpPr>
        <p:spPr>
          <a:xfrm>
            <a:off x="694944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🔁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25296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Reuse instead of repetition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25296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login method used by forty scenarios, not forty copies of the same three findElement calls.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37176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65192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🧭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67528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place per concern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67528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Locators live in page objects, data in config, lifecycle in hooks. Each change has one home.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94944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🌱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25296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Environment portability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225296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same suite runs against staging or production by changing a properties file, not the code.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37176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65192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📊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67528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Reporting you can hand over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367528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failed run produces a readable report, a screenshot and a log — not just a red console.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94944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👥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25296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shared vocabulary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225296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New team members recognise the structure on day one because it follows a known convention.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837176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5192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🛡️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367528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Controlled failure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367528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Waits, retries and clean teardown mean a failing test points at a real defect, not at the harness.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🧩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Without a framework, test #200 costs ten times what test #2 cost. That curve is the whole reason frameworks exist.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 / 35   ·   FRAMEWORK COMPONENTS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eight components of a BDD framework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Shape 5"/>
          <p:cNvSpPr/>
          <p:nvPr/>
        </p:nvSpPr>
        <p:spPr>
          <a:xfrm>
            <a:off x="694944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📄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25296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Feature files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25296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Business-readable Gherkin scenarios in src/test/resources/features. The specification and the test in one file.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37176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65192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🪜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67528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Step definitions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67528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Java methods bound to Gherkin steps. They orchestrate page objects — they contain no locators.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94944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🧱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25296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Page objects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225296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class per page. Locators plus the services that page offers. No assertions live here.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37176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65192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🚗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67528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Driver management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367528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DriverFactory that creates, stores and quits the WebDriver, safely for parallel runs.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94944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🔧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25296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Configuration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225296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config.properties plus a reader. URLs, credentials, browser and timeouts — never hard-coded.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837176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5192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🎬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367528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Hooks &amp; runner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367528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@Before/@After set up and tear down each scenario; the runner tells Cucumber what to execute.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➕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Plus two more: test data (JSON/Excel/properties) and reporting &amp; logging (Cucumber report, screenshots, log4j).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07 / 35   ·   FRAMEWORK COMPONENTS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Who owns which responsibility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1188720"/>
          <a:ext cx="807415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971800"/>
                <a:gridCol w="2953512"/>
              </a:tblGrid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Layer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Owns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Must never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Feature file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Business language, scenarios, examples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Mention CSS, XPath or Java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Step definition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Calling page objects, assertions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Contain a locator or a Thread.sleep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Page object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Locators and page services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Assert anything, or expose WebDriver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DriverFactory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Creating and quitting the driver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Be called directly from a page object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ConfigReader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Reading config.properties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Hold hard-coded environment values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Hooks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Setup, teardown, screenshots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Contain business logic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Runner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Glue paths, tags, report plugins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Contain any test logic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Utils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Waits, file and date helpers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Become a dumping ground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⚖️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If you cannot say which layer a new class belongs to, the design is not ready — decide before you write it.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3" name="Shape 1"/>
          <p:cNvSpPr/>
          <p:nvPr/>
        </p:nvSpPr>
        <p:spPr>
          <a:xfrm>
            <a:off x="3667658" y="0"/>
            <a:ext cx="5476342" cy="5143500"/>
          </a:xfrm>
          <a:prstGeom prst="rect">
            <a:avLst/>
          </a:prstGeom>
          <a:solidFill>
            <a:srgbClr val="34BF79"/>
          </a:solidFill>
          <a:ln/>
        </p:spPr>
      </p:sp>
      <p:sp>
        <p:nvSpPr>
          <p:cNvPr id="4" name="Text 2"/>
          <p:cNvSpPr/>
          <p:nvPr/>
        </p:nvSpPr>
        <p:spPr>
          <a:xfrm>
            <a:off x="687629" y="1572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7629" y="190195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IntelliJ Setup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" y="3703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“Get the skeleton right and the tests write themselves.”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69080" y="141732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950" b="1" spc="160" kern="0" dirty="0">
                <a:solidFill>
                  <a:srgbClr val="D9F5E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SLIDES 8 – 12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💻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Maven project, step by step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📦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Gradle project, step by step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🗂️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Packages and directory layout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08 / 35   ·   INTELLIJ SETUP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Before you start — prerequisites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Shape 5"/>
          <p:cNvSpPr/>
          <p:nvPr/>
        </p:nvSpPr>
        <p:spPr>
          <a:xfrm>
            <a:off x="694944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☕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25296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JDK 17 or newer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25296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Selenium 4 requires Java 11+; JDK 17 or 21 LTS is the safe choice. Verify with java -version.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37176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65192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67528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IntelliJ IDEA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67528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Community Edition is enough for Maven, Gradle, TestNG and Cucumber. Ultimate adds nicer Gherkin tooling.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94944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🥒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25296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Cucumber plugin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225296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Settings → Plugins → install “Cucumber for Java” and “Gherkin” so steps link to their definitions.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37176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65192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🌐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67528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modern browser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367528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Chrome, Firefox or Edge. Selenium Manager will fetch the matching driver automatically.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94944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📡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25296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Network on first run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225296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Maven or Gradle downloads dependencies, and Selenium Manager fetches the driver, on the first build only.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837176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5192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🎯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367528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target app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367528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https://www.saucedemo.com — a free, stable e-commerce playground with a documented login and checkout flow.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Check first: java -version, then mvn -v (Maven) or gradle -v (Gradle). IntelliJ can also supply its own bundled tools.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09 / 35   ·   INTELLIJ SETUP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Create a Maven project — step by step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Shape 5"/>
          <p:cNvSpPr/>
          <p:nvPr/>
        </p:nvSpPr>
        <p:spPr>
          <a:xfrm>
            <a:off x="694944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①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25296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Open the wizard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25296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Welcome screen → New Project. Or, with a project open, File → New → Project.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37176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65192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②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67528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Name and location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67528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Name: saucedemo-bdd-framework. Choose a location. Optionally tick Create Git repository.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94944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③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25296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Language and build system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225296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Language: Java. Build system: Maven. Leave “Add sample code” unticked.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37176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65192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④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67528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Select the JDK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367528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Pick JDK 17 or 21. If none is listed, choose Download JDK and let IntelliJ install it.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94944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⑤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25296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Advanced Settings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225296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Expand it and set GroupId: id.dibimbing.qa — ArtifactId: saucedemo-bdd-framework.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837176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5192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⑥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367528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Create and sync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367528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Click Create. IntelliJ generates pom.xml and opens the Maven tool window; it syncs automatically.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🔄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After editing pom.xml, click the Maven reload icon (or Ctrl+Shift+O) so IntelliJ re-resolves dependencies.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 / 35   ·   INTELLIJ SETUP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Create a Gradle project — step by step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Shape 5"/>
          <p:cNvSpPr/>
          <p:nvPr/>
        </p:nvSpPr>
        <p:spPr>
          <a:xfrm>
            <a:off x="694944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①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25296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Open the wizard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25296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Welcome screen → New Project, or File → New → Project from an open window.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37176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65192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②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67528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Name and location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67528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Name: saucedemo-bdd-framework. Set the directory, and Git if you want it.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94944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③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25296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Build system: Gradle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225296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Language: Java. Build system: Gradle. This is the only step that differs from Maven.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37176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65192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④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67528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Choose the Gradle DSL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367528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Groovy gives you build.gradle; Kotlin gives build.gradle.kts. Groovy is the common choice for QA teams.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94944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⑤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25296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Advanced Settings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225296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Gradle distribution: Wrapper (recommended). Set GroupId and ArtifactId as with Maven.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837176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5192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⑥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367528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Create and sync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367528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Click Create. IntelliJ generates build.gradle, settings.gradle and the wrapper, then syncs.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🐘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the Gradle Wrapper so every teammate and your CI server build with exactly the same Gradle version.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 / 35   ·   INTELLIJ SETUP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Create the packages — step by step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92339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 IntelliJ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4363"/>
            <a:ext cx="4937760" cy="1165225"/>
          </a:xfrm>
          <a:prstGeom prst="roundRect">
            <a:avLst>
              <a:gd name="adj" fmla="val 4708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5803"/>
            <a:ext cx="4736592" cy="982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Right-click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src/test/java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once: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id.dibimbing.qa.pages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for: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driver,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config,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hooks,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steps,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runner,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Right-click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src/test/resources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Directory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Right-click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13232" y="2686748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result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94944" y="2878772"/>
            <a:ext cx="4937760" cy="1305560"/>
          </a:xfrm>
          <a:prstGeom prst="roundRect">
            <a:avLst>
              <a:gd name="adj" fmla="val 4202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2970212"/>
            <a:ext cx="4736592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src/test/java/id/dibimbing/qa/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DriverFactory.java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BasePage.java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LoginPage.java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LoginSteps.java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CheckoutSteps.java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TestRunner.java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WaitUtils.java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852160" y="1275715"/>
            <a:ext cx="2916936" cy="1468374"/>
          </a:xfrm>
          <a:prstGeom prst="roundRect">
            <a:avLst>
              <a:gd name="adj" fmla="val 37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1348867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TIPS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007608" y="1614043"/>
            <a:ext cx="2606040" cy="103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Type the whole dotted name — IntelliJ nests it for you</a:t>
            </a:r>
            <a:endParaRPr lang="en-US" sz="700" dirty="0"/>
          </a:p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Enable Settings → Project View → Compact Middle Packages</a:t>
            </a:r>
            <a:endParaRPr lang="en-US" sz="700" dirty="0"/>
          </a:p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Keep every test class under src/test/java, not src/main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5852160" y="2890393"/>
            <a:ext cx="2916936" cy="1210564"/>
          </a:xfrm>
          <a:prstGeom prst="roundRect">
            <a:avLst>
              <a:gd name="adj" fmla="val 4532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89320" y="2963545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COMMON MISTAKES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007608" y="3228721"/>
            <a:ext cx="2606040" cy="780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Creating folders on disk instead of Packages</a:t>
            </a:r>
            <a:endParaRPr lang="en-US" sz="700" dirty="0"/>
          </a:p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Putting features under src/test/java (they will not load)</a:t>
            </a:r>
            <a:endParaRPr lang="en-US" sz="700" dirty="0"/>
          </a:p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Mixing package names with different company prefixes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Feature files are resources, not code. They belong in src/test/resources/features.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 / 35   ·   INTELLIJ SETUP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Maven standard directory layout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1188720"/>
          <a:ext cx="807415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044952"/>
              </a:tblGrid>
              <a:tr h="3726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Path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What lives there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 this framework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</a:tr>
              <a:tr h="3726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src/main/java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Application source code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Usually empty for a test project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26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src/main/resources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Application resources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Usually empty for a test project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726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src/test/java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Test source code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pages, steps, hooks, driver, config, runner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26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src/test/resources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Test resources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features/, config.properties, testng.xml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726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target/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Everything the build produces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Compiled classes, Cucumber reports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26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pom.xml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The project descriptor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Dependencies, plugins, Java version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726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.gitignore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Files git must not track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target/, .idea/, *.iml, test-output/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📁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Reference: maven.apache.org/guides/introduction/introduction-to-the-standard-directory-layout.html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3" name="Shape 1"/>
          <p:cNvSpPr/>
          <p:nvPr/>
        </p:nvSpPr>
        <p:spPr>
          <a:xfrm>
            <a:off x="3667658" y="0"/>
            <a:ext cx="5476342" cy="5143500"/>
          </a:xfrm>
          <a:prstGeom prst="rect">
            <a:avLst/>
          </a:prstGeom>
          <a:solidFill>
            <a:srgbClr val="34BF79"/>
          </a:solidFill>
          <a:ln/>
        </p:spPr>
      </p:sp>
      <p:sp>
        <p:nvSpPr>
          <p:cNvPr id="4" name="Text 2"/>
          <p:cNvSpPr/>
          <p:nvPr/>
        </p:nvSpPr>
        <p:spPr>
          <a:xfrm>
            <a:off x="687629" y="1572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7629" y="190195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Dependencies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3703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“One place for every version. Never two.”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69080" y="141732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950" b="1" spc="160" kern="0" dirty="0">
                <a:solidFill>
                  <a:srgbClr val="D9F5E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SLIDES 13 – 17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📦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pom.xml anatomy and the full file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🐘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Gradle equivalent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🔁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Runners and version hygiene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 / 35   ·   DEPENDENCIES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pom.xml — the anatomy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254252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Coordinates and properties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446276"/>
            <a:ext cx="4937760" cy="1544955"/>
          </a:xfrm>
          <a:prstGeom prst="roundRect">
            <a:avLst>
              <a:gd name="adj" fmla="val 3551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537716"/>
            <a:ext cx="4736592" cy="136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&lt;groupId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id.dibimbing.qa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&lt;/groupId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&lt;artifactId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saucedemo-bdd-framework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&lt;/artifactId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1.0-SNAPSHOT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&lt;properties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&lt;maven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.compiler.source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&lt;/maven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.compiler.source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&lt;maven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.compiler.target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&lt;/maven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.compiler.target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&lt;selenium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4.47.0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&lt;/selenium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&lt;cucumber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7.34.6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&lt;/cucumber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&lt;testng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7.11.0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&lt;/testng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&lt;/properties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13232" y="3128391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dependency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94944" y="3320415"/>
            <a:ext cx="4937760" cy="802005"/>
          </a:xfrm>
          <a:prstGeom prst="roundRect">
            <a:avLst>
              <a:gd name="adj" fmla="val 6841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3411855"/>
            <a:ext cx="4736592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&lt;groupId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org.seleniumhq.selenium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&lt;/groupId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&lt;artifactId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selenium-java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&lt;/artifactId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${selenium.version}</a:t>
            </a:r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852160" y="1257300"/>
            <a:ext cx="2916936" cy="1136904"/>
          </a:xfrm>
          <a:prstGeom prst="roundRect">
            <a:avLst>
              <a:gd name="adj" fmla="val 482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133045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WHY PROPERTIES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07608" y="1595628"/>
            <a:ext cx="26060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version is declared exactly once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 upgrade is a one-line change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Reviewers can see the whole stack at a glance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852160" y="2540508"/>
            <a:ext cx="2916936" cy="1578864"/>
          </a:xfrm>
          <a:prstGeom prst="roundRect">
            <a:avLst>
              <a:gd name="adj" fmla="val 3475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89320" y="261366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WATCH OUT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07608" y="2878836"/>
            <a:ext cx="2606040" cy="114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Never write a literal version twice in one pom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mix Selenium 3 and Selenium 4 artifacts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Avoid version ranges — builds stop being reproducible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groupId + artifactId + version is a Maven coordinate. It uniquely identifies any library on Maven Central.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 / 35   ·   DEPENDENCIES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complete dependency block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pom.xml — dependencies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&lt;dependencies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&lt;groupId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org.seleniumhq.selenium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&lt;/groupId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&lt;artifactId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selenium-java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&lt;/artifactId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&lt;version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${selenium.version}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&lt;/version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&lt;groupId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io.cucumber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&lt;/groupId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&lt;artifactId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cucumber-java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&lt;/artifactId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&lt;version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${cucumber.version}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&lt;/version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&lt;scope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&lt;/scope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&lt;groupId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io.cucumber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&lt;/groupId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&lt;artifactId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cucumber-testng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&lt;/artifactId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&lt;version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${cucumber.version}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&lt;/version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&lt;scope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&lt;/scope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&lt;/dependencies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852160" y="1340358"/>
            <a:ext cx="2916936" cy="1440370"/>
          </a:xfrm>
          <a:prstGeom prst="roundRect">
            <a:avLst>
              <a:gd name="adj" fmla="val 3809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41351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WHAT EACH ONE IS FOR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07608" y="1678686"/>
            <a:ext cx="2606040" cy="1010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selenium-java — the browser automation bindings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cucumber-java — the Gherkin step annotations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cucumber-testng — runs scenarios through TestNG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scope=test keeps them out of any shipped artifact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852160" y="2927033"/>
            <a:ext cx="2916936" cy="1109281"/>
          </a:xfrm>
          <a:prstGeom prst="roundRect">
            <a:avLst>
              <a:gd name="adj" fmla="val 4946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3000185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NOTES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07608" y="3265361"/>
            <a:ext cx="2606040" cy="679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 no longer need a WebDriverManager dependency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Add testng explicitly only if you assert with it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Never mix Selenium 3 and Selenium 4 artifacts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Verified August 2026 — Selenium 4.47.0 · Cucumber 7.34.6 · TestNG 7.11.0 · Surefire 3.5.6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 / 35   ·   DEPENDENCIES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build.gradle — the same stack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build.gradle (Groovy DSL)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'java'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'id.dibimbing.qa'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'1.0-SNAPSHOT'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toolchain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JavaLanguageVersion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(17) }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repositories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mavenCentral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seleniumV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'4.47.0'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cucumberV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'7.34.6'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testImplementation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"org.seleniumhq.selenium:selenium-java:$seleniumV"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testImplementation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"io.cucumber:cucumber-java:$cucumberV"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testImplementation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"io.cucumber:cucumber-testng:$cucumberV"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useTestNG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}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852160" y="1298734"/>
            <a:ext cx="2916936" cy="1247394"/>
          </a:xfrm>
          <a:prstGeom prst="roundRect">
            <a:avLst>
              <a:gd name="adj" fmla="val 4398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371886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GRADLE STRENGTHS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07608" y="1637062"/>
            <a:ext cx="2606040" cy="817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Concise, and it is a real programming language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Incremental builds and a cache make reruns faster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Wrapper pins one Gradle version for everyone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852160" y="2692432"/>
            <a:ext cx="2916936" cy="1385506"/>
          </a:xfrm>
          <a:prstGeom prst="roundRect">
            <a:avLst>
              <a:gd name="adj" fmla="val 3960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2765584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GRADLE COSTS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07608" y="3030760"/>
            <a:ext cx="2606040" cy="95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Groovy or Kotlin DSL is another language to learn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Fewer QA tutorials use it than Maven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Debugging a custom build script takes real effort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Reference: docs.gradle.org/current/userguide/java_testing.html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 / 35   ·   DEPENDENCIES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Maven vs Gradle for a QA team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1188720"/>
          <a:ext cx="80741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063240"/>
                <a:gridCol w="3090672"/>
              </a:tblGrid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Maven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Gradle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Build file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pom.xml — XML, declarative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build.gradle — Groovy or Kotlin code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Learning curve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Gentle; the structure is fixed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Steeper; more freedom, more choices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Build speed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Fine for test suites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Faster on reruns thanks to the cache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Run tests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mvn clean test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gradle clean test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Version pinning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&lt;properties&gt; block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ext { } block or a version catalog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QA ecosystem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The default in most tutorials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Common in Android and product teams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CI support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Universal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Universal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Recommendation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Start here for a QA framework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Move here when builds get complex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⚖️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Both do the same job. Pick one per team and stay consistent — a repo with both is a repo nobody can maintain.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17 / 35   ·   DEPENDENCIES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Surefire, and running the suite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204722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pom.xml — the build plugin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96746"/>
            <a:ext cx="4937760" cy="1223010"/>
          </a:xfrm>
          <a:prstGeom prst="roundRect">
            <a:avLst>
              <a:gd name="adj" fmla="val 4486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88186"/>
            <a:ext cx="473659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&lt;build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&lt;plugins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&lt;plugin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&lt;groupId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org.apache.maven.plugins</a:t>
            </a:r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&lt;/groupId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&lt;artifactId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maven-surefire-plugin</a:t>
            </a:r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&lt;/artifactId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&lt;version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3.5.6</a:t>
            </a:r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&lt;/version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&lt;/plugin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&lt;/plugins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&lt;/build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13232" y="2756916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Running it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94944" y="2948940"/>
            <a:ext cx="4937760" cy="1223010"/>
          </a:xfrm>
          <a:prstGeom prst="roundRect">
            <a:avLst>
              <a:gd name="adj" fmla="val 4486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3040380"/>
            <a:ext cx="473659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#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Maven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everything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gradle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#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Gradle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everything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Dcucumber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"@smoke"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Dbrowser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Dheadless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IntelliJ: right-click TestRunner -&gt; Run 'TestRunner'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52160" y="1294130"/>
            <a:ext cx="2916936" cy="1321054"/>
          </a:xfrm>
          <a:prstGeom prst="roundRect">
            <a:avLst>
              <a:gd name="adj" fmla="val 4153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136728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GOOD HABITS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07608" y="1632458"/>
            <a:ext cx="2606040" cy="8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Tag scenarios and filter by tag in CI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Pass environment values with -D, never in code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Run clean before any release build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852160" y="2761488"/>
            <a:ext cx="2916936" cy="1321054"/>
          </a:xfrm>
          <a:prstGeom prst="roundRect">
            <a:avLst>
              <a:gd name="adj" fmla="val 4153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89320" y="283464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AVOID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007608" y="3099816"/>
            <a:ext cx="2606040" cy="8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Committing headless=true for the whole team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Running full regression on every commit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Relying on the IDE only — CI must run it too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Reference: maven.apache.org/surefire/maven-surefire-plugin/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3" name="Shape 1"/>
          <p:cNvSpPr/>
          <p:nvPr/>
        </p:nvSpPr>
        <p:spPr>
          <a:xfrm>
            <a:off x="3667658" y="0"/>
            <a:ext cx="5476342" cy="5143500"/>
          </a:xfrm>
          <a:prstGeom prst="rect">
            <a:avLst/>
          </a:prstGeom>
          <a:solidFill>
            <a:srgbClr val="34BF79"/>
          </a:solidFill>
          <a:ln/>
        </p:spPr>
      </p:sp>
      <p:sp>
        <p:nvSpPr>
          <p:cNvPr id="4" name="Text 2"/>
          <p:cNvSpPr/>
          <p:nvPr/>
        </p:nvSpPr>
        <p:spPr>
          <a:xfrm>
            <a:off x="687629" y="1572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7629" y="190195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WebDriver Config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3703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“Nothing environment-specific belongs in a test.”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69080" y="141732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950" b="1" spc="160" kern="0" dirty="0">
                <a:solidFill>
                  <a:srgbClr val="D9F5E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SLIDES 18 – 22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⚙️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config.properties for SauceDemo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🔑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DriverFactory and ThreadLocal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🧵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Options, headless and hooks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18 / 35   ·   WEBDRIVER CONFIG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config.properties — SauceDemo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src/test/resources/config.properties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---------- application ----------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base.url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https://www.saucedemo.com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inventory.url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https://www.saucedemo.com/inventory.html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---------- credentials ----------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standard.user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standard_user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locked.user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locked_out_user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problem.user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problem_user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glitch.user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performance_glitch_user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secret_sauce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---------- checkout data ----------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checkout.firstname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Arief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checkout.lastname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Rahman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checkout.postalcode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---------- driver ----------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headless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explicit.wait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852160" y="1441640"/>
            <a:ext cx="2916936" cy="1265428"/>
          </a:xfrm>
          <a:prstGeom prst="roundRect">
            <a:avLst>
              <a:gd name="adj" fmla="val 43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51479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WHY EXTERNALISE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07608" y="1779968"/>
            <a:ext cx="2606040" cy="83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file switches the suite to another environment</a:t>
            </a:r>
            <a:endParaRPr lang="en-US" sz="700" dirty="0"/>
          </a:p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Credentials stop being scattered across step classes</a:t>
            </a:r>
            <a:endParaRPr lang="en-US" sz="700" dirty="0"/>
          </a:p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Reviewers see the test data without reading Java</a:t>
            </a:r>
            <a:endParaRPr lang="en-US" sz="700" dirty="0"/>
          </a:p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Used as ConfigReader.get("standard.user")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5852160" y="2853373"/>
            <a:ext cx="2916936" cy="1081659"/>
          </a:xfrm>
          <a:prstGeom prst="roundRect">
            <a:avLst>
              <a:gd name="adj" fmla="val 5072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2926525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IN A REAL PROJECT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007608" y="3191701"/>
            <a:ext cx="2606040" cy="651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Never commit production credentials to git</a:t>
            </a:r>
            <a:endParaRPr lang="en-US" sz="700" dirty="0"/>
          </a:p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Read real secrets from environment variables in CI</a:t>
            </a:r>
            <a:endParaRPr lang="en-US" sz="700" dirty="0"/>
          </a:p>
          <a:p>
            <a:pPr marL="152400" indent="-152400">
              <a:lnSpc>
                <a:spcPts val="1015"/>
              </a:lnSpc>
              <a:spcAft>
                <a:spcPts val="400"/>
              </a:spcAft>
              <a:buSzPct val="100000"/>
              <a:buChar char="•"/>
            </a:pPr>
            <a:r>
              <a:rPr lang="en-US" sz="7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SauceDemo accounts are public demo data — safe here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SauceDemo lists these accounts on its own login page; they are demo data, not secrets.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19 / 35   ·   WEBDRIVER CONFIG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ConfigReader — load it once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config/ConfigReader.java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Properties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Properties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InputStream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getClassLoader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getResourceAsStream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"config.properties"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IOException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IllegalStateException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"config.properties not found"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-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getProperty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getProperty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852160" y="1330960"/>
            <a:ext cx="2916936" cy="1431544"/>
          </a:xfrm>
          <a:prstGeom prst="roundRect">
            <a:avLst>
              <a:gd name="adj" fmla="val 3833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40411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DESIGN NOTES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07608" y="1669288"/>
            <a:ext cx="2606040" cy="100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static block loads the file exactly once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getResourceAsStream works inside a packaged jar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System property first lets CI override any value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852160" y="2908808"/>
            <a:ext cx="2916936" cy="1136904"/>
          </a:xfrm>
          <a:prstGeom prst="roundRect">
            <a:avLst>
              <a:gd name="adj" fmla="val 4826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298196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AVOID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07608" y="3247136"/>
            <a:ext cx="26060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new FileInputStream("src/test/resources/…")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Re-reading the file inside every step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Swallowing the IOException and returning null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Fail loudly at startup. A null base.url fails much later and far less clearly.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 / 35   ·   WEBDRIVER CONFIG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DriverFactory — one driver per thread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driver/DriverFactory.java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DriverFactory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ThreadLocal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WebDriver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ThreadLocal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&lt;&gt;();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WebDriver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WebDriver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!=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    //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otherwise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leaks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852160" y="1215866"/>
            <a:ext cx="2916936" cy="1321054"/>
          </a:xfrm>
          <a:prstGeom prst="roundRect">
            <a:avLst>
              <a:gd name="adj" fmla="val 4153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28901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PROS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07608" y="1554194"/>
            <a:ext cx="2606040" cy="8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Safe for parallel execution from day one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WebDriver threaded through method signatures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place creates it, one place destroys it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852160" y="2683224"/>
            <a:ext cx="2916936" cy="1477582"/>
          </a:xfrm>
          <a:prstGeom prst="roundRect">
            <a:avLst>
              <a:gd name="adj" fmla="val 3713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2756376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CONS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07608" y="3021552"/>
            <a:ext cx="2606040" cy="1047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Forgetting remove() leaks that thread's driver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It is hidden global state — keep the class tiny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Never call quit() from inside a page object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plain static WebDriver field would be shared, and parallel scenarios would fight over one window.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21 / 35   ·   WEBDRIVER CONFIG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Creating the driver — options and headless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driver/DriverManager.java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WebDriver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"browser"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headless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parseBoolean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"headless"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"firefox"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equalsIgnoreCase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{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FirefoxOptions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FirefoxOptions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headless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addArguments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"-headless"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FirefoxDriver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ChromeOptions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ChromeOptions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headless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addArguments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"--headless=new"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addArguments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"--window-size=1920,1080"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addArguments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"--disable-notifications"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ChromeDriver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852160" y="1367790"/>
            <a:ext cx="2916936" cy="1247394"/>
          </a:xfrm>
          <a:prstGeom prst="roundRect">
            <a:avLst>
              <a:gd name="adj" fmla="val 4398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44094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USEFUL ARGUMENTS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07608" y="1706118"/>
            <a:ext cx="2606040" cy="817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--headless=new — the modern Chrome headless mode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--window-size — headless has no real window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--disable-notifications — kills permission popups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852160" y="2761488"/>
            <a:ext cx="2916936" cy="1247394"/>
          </a:xfrm>
          <a:prstGeom prst="roundRect">
            <a:avLst>
              <a:gd name="adj" fmla="val 4398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283464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BE CAREFUL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07608" y="3099816"/>
            <a:ext cx="2606040" cy="817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Headless can behave differently from a headed run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--no-sandbox is for containers, never a laptop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mix implicit and explicit waits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Selenium Manager resolves the driver binary itself — there is nothing else to configure here.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22 / 35   ·   WEBDRIVER CONFIG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Hooks — the scenario lifecycle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hooks/Hooks.java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@Before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DriverFactory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DriverManager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DriverFactory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maximize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DriverFactory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"base.url"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@After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tearDown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isFailed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{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shot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((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TakesScreenshot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DriverFactory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getScreenshotAs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OutputType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BYTES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attach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shot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"image/png"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getName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DriverFactory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quit</a:t>
            </a:r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852160" y="1377188"/>
            <a:ext cx="2916936" cy="1339088"/>
          </a:xfrm>
          <a:prstGeom prst="roundRect">
            <a:avLst>
              <a:gd name="adj" fmla="val 4097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45034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WHAT BELONGS HERE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07608" y="1715516"/>
            <a:ext cx="2606040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Driver creation and teardown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Navigating to the base URL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Screenshot on failure, attached to the report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Order: @Before → Given/When/Then → @After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852160" y="2862580"/>
            <a:ext cx="2916936" cy="1136904"/>
          </a:xfrm>
          <a:prstGeom prst="roundRect">
            <a:avLst>
              <a:gd name="adj" fmla="val 4826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293573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⛔   WHAT DOES NOT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07608" y="3200908"/>
            <a:ext cx="26060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Logging in — that is a Given step, not a hook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Assertions of any kind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 setup only one scenario needs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a tagged hook — @Before("@checkout") — when only one module needs extra setup.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3" name="Shape 1"/>
          <p:cNvSpPr/>
          <p:nvPr/>
        </p:nvSpPr>
        <p:spPr>
          <a:xfrm>
            <a:off x="3667658" y="0"/>
            <a:ext cx="5476342" cy="5143500"/>
          </a:xfrm>
          <a:prstGeom prst="rect">
            <a:avLst/>
          </a:prstGeom>
          <a:solidFill>
            <a:srgbClr val="34BF79"/>
          </a:solidFill>
          <a:ln/>
        </p:spPr>
      </p:sp>
      <p:sp>
        <p:nvSpPr>
          <p:cNvPr id="4" name="Text 2"/>
          <p:cNvSpPr/>
          <p:nvPr/>
        </p:nvSpPr>
        <p:spPr>
          <a:xfrm>
            <a:off x="687629" y="1572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7629" y="190195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BDD — Login &amp; Checkout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3703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“A scenario a business analyst can read is a scenario worth keeping.”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69080" y="141732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950" b="1" spc="160" kern="0" dirty="0">
                <a:solidFill>
                  <a:srgbClr val="D9F5E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SLIDES 23 – 30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🥒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Gherkin in sixty seconds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🔐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login.feature and checkout.feature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🛒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Page objects, steps and the runner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23 / 35   ·   BDD — LOGIN &amp; CHECKOUT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Gherkin in sixty seconds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Shape 5"/>
          <p:cNvSpPr/>
          <p:nvPr/>
        </p:nvSpPr>
        <p:spPr>
          <a:xfrm>
            <a:off x="694944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📄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25296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Feature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25296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high-level description of one capability, grouping the scenarios that belong to it.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37176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65192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🎬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67528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Scenario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67528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concrete example of a business rule: a context, an event and an expected outcome.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94944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🅖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25296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Given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225296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starting state. “Given the user is on the login page.” Setup, never an action under test.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37176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65192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🅦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67528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When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367528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event being tested. “When the user logs in with valid credentials.” One action per scenario.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94944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🅣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25296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225296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expected outcome, and the only place an assertion belongs. Chain more with And or But.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837176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5192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📋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367528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Scenario Outline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367528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same scenario run once per row of an Examples table — data-driven testing, in plain text.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🥒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Background runs before every scenario in a file. Reference: cucumber.io/docs/gherkin/reference/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24 / 35   ·   BDD — LOGIN &amp; CHECKOUT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Module 1 — login.feature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src/test/resources/features/login.feature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@login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Feature: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SauceDemo Login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Background: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is on the SauceDemo login page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@smoke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Scenario: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Login with valid credentials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logs in as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"standard.user"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products page is displayed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Outline: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Login is rejected for invalid input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logs in with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"&lt;username&gt;"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"&lt;password&gt;"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error message contains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"&lt;message&gt;"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Examples: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username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password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message  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standard_user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wrong_pass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 not match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locked_out_user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secret_sauce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has been locked out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secret_sauce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Username is required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852160" y="1409414"/>
            <a:ext cx="2916936" cy="1302258"/>
          </a:xfrm>
          <a:prstGeom prst="roundRect">
            <a:avLst>
              <a:gd name="adj" fmla="val 4213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482566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NOTICE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07608" y="1747742"/>
            <a:ext cx="2606040" cy="872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 one locator appears in this file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business analyst can read and correct it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Examples table is your negative-test matrix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 Scenario + 3 Examples = 4 executed scenarios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852160" y="2857976"/>
            <a:ext cx="2916936" cy="1109281"/>
          </a:xfrm>
          <a:prstGeom prst="roundRect">
            <a:avLst>
              <a:gd name="adj" fmla="val 4946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293112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KEEP IT CLEAN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07608" y="3196304"/>
            <a:ext cx="2606040" cy="679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“click the button with id user-name”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When per scenario — two means two scenarios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encode step order in the step text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Write the feature file first, with the team. The Java comes after everyone agrees on the behaviour.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25 / 35   ·   BDD — LOGIN &amp; CHECKOUT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Module 2 — checkout.feature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src/test/resources/features/checkout.feature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@checkout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Feature: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SauceDemo Checkout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Background: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is logged in as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"standard.user"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@smoke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Scenario: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Complete an order end to end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adds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"Sauce Labs Backpack"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the cart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opens the cart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proceeds to checkout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fills in the checkout information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finishes the order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order confirmation is displayed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Scenario: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Checkout requires a first name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adds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"Sauce Labs Backpack"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the cart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opens the cart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proceeds to checkout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user submits the form without a first name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error message contains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"First Name is required"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852160" y="1340358"/>
            <a:ext cx="2916936" cy="1302258"/>
          </a:xfrm>
          <a:prstGeom prst="roundRect">
            <a:avLst>
              <a:gd name="adj" fmla="val 4213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41351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GOOD PRACTICE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07608" y="1678686"/>
            <a:ext cx="2606040" cy="872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Background removes the repeated login from both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“logged in as” is reused from the login module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 names come from the UI, not from an id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Positive and negative paths in the same feature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852160" y="2788920"/>
            <a:ext cx="2916936" cy="1247394"/>
          </a:xfrm>
          <a:prstGeom prst="roundRect">
            <a:avLst>
              <a:gd name="adj" fmla="val 4398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286207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WATCH FOR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07608" y="3127248"/>
            <a:ext cx="2606040" cy="817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Scenarios depending on a previous scenario's state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Steps so generic they mean nothing alone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Background longer than the scenarios it serves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Two modules, two feature files. A third module gets a third file — never one giant feature.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26 / 35   ·   BDD — LOGIN &amp; CHECKOUT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Page object — LoginPage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pages/LoginPage.java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LoginPage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BasePage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"user-name"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"password"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loginBtn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"login-button"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cssSelector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"[data-test='error']"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loginBtn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errorText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852160" y="1229868"/>
            <a:ext cx="2916936" cy="1633728"/>
          </a:xfrm>
          <a:prstGeom prst="roundRect">
            <a:avLst>
              <a:gd name="adj" fmla="val 3358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30302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RULES FOLLOWED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07608" y="1568196"/>
            <a:ext cx="260604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Locators are private — nothing outside can use them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login() names a service, not a sequence of clicks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assertion anywhere in the class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find, type, click and text live in BasePage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852160" y="3009900"/>
            <a:ext cx="2916936" cy="1136904"/>
          </a:xfrm>
          <a:prstGeom prst="roundRect">
            <a:avLst>
              <a:gd name="adj" fmla="val 4826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308305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SIGNS OF TROUBLE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07608" y="3348228"/>
            <a:ext cx="26060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page object that returns a WebElement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method called clickLoginButton()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Assert.assertEquals inside a page class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Official guidance: selenium.dev/documentation/test_practices/encouraged/page_object_models/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27 / 35   ·   BDD — LOGIN &amp; CHECKOUT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Page object — CheckoutPage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pages/CheckoutPage.java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firstName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"first-name"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lastName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"last-name"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"postal-code"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continueB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"continue"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finishB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"finish"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className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"complete-header"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fillInformation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firstName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lastName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continueB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finishB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confirmationText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852160" y="1330960"/>
            <a:ext cx="2916936" cy="1284224"/>
          </a:xfrm>
          <a:prstGeom prst="roundRect">
            <a:avLst>
              <a:gd name="adj" fmla="val 4272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40411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NOTICE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07608" y="1669288"/>
            <a:ext cx="2606040" cy="85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class per page, one locator per element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fillInformation takes data — it does not invent it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step definition decides what data to pass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852160" y="2761488"/>
            <a:ext cx="2916936" cy="1284224"/>
          </a:xfrm>
          <a:prstGeom prst="roundRect">
            <a:avLst>
              <a:gd name="adj" fmla="val 4272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283464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AVOID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07608" y="3099816"/>
            <a:ext cx="2606040" cy="85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giant CheckoutPage covering three URLs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Reading config.properties from inside a page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Returning boolean isDisplayed() for assertions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SauceDemo checkout spans three pages — step one, step two and complete. Split them if the class grows.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28 / 35   ·   BDD — LOGIN &amp; CHECKOUT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Step definitions — LoginSteps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steps/LoginSteps.java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LoginSteps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@Given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user is on the SauceDemo login page"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openLoginPage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DriverFactory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"base.url"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user logs in as {string}"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loginAs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userKey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userKey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"password"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products page is displayed"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productsDisplayed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assertEquals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"Products"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852160" y="1229868"/>
            <a:ext cx="2916936" cy="1633728"/>
          </a:xfrm>
          <a:prstGeom prst="roundRect">
            <a:avLst>
              <a:gd name="adj" fmla="val 3358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30302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WHAT STEPS DO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07608" y="1568196"/>
            <a:ext cx="260604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Translate one Gherkin sentence into page calls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Hold the assertions — in Then steps only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Read test data through ConfigReader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{string} captures the quoted value from the feature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852160" y="3009900"/>
            <a:ext cx="2916936" cy="1136904"/>
          </a:xfrm>
          <a:prstGeom prst="roundRect">
            <a:avLst>
              <a:gd name="adj" fmla="val 4826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308305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⛔   WHAT THEY MUST NOT DO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07608" y="3348228"/>
            <a:ext cx="26060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Contain By.id or any other locator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Create their own WebDriver instance</a:t>
            </a:r>
            <a:endParaRPr lang="en-US" sz="800" dirty="0"/>
          </a:p>
          <a:p>
            <a:pPr marL="152400" indent="-152400">
              <a:lnSpc>
                <a:spcPts val="11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Call Thread.sleep to work around timing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sentence, one method. If a step needs a comment to explain it, rewrite the sentence.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29 / 35   ·   BDD — LOGIN &amp; CHECKOUT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Step definitions — CheckoutSteps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steps/CheckoutSteps.java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CheckoutSteps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user fills in the checkout information"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fillCheckout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fillInformation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"checkout.firstname"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"checkout.lastname"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"checkout.postalcode"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user finishes the order"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finishOrder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@Then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order confirmation is displayed"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confirmationShown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assertEquals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confirmationText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"Thank you for your order!"</a:t>
            </a:r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852160" y="1215866"/>
            <a:ext cx="2916936" cy="1477582"/>
          </a:xfrm>
          <a:prstGeom prst="roundRect">
            <a:avLst>
              <a:gd name="adj" fmla="val 3713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28901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REUSE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07608" y="1554194"/>
            <a:ext cx="2606040" cy="1047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“the error message contains …” is shared with login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Keep shared steps in one CommonSteps class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Checkout data comes from config, not from literals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852160" y="2839752"/>
            <a:ext cx="2916936" cy="1321054"/>
          </a:xfrm>
          <a:prstGeom prst="roundRect">
            <a:avLst>
              <a:gd name="adj" fmla="val 4153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2912904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DUPLICATE STEPS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07608" y="3178080"/>
            <a:ext cx="2606040" cy="8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same sentence in two classes throws at startup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Nearly identical sentences confuse everyone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Search before writing a new step definition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Cucumber matches on the sentence, not the class. Two classes may never define the same sentence.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30 / 35   ·   BDD — LOGIN &amp; CHECKOUT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TestRunner — and running it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204722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runner/TestRunner.java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96746"/>
            <a:ext cx="4937760" cy="1668780"/>
          </a:xfrm>
          <a:prstGeom prst="roundRect">
            <a:avLst>
              <a:gd name="adj" fmla="val 3288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88186"/>
            <a:ext cx="473659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4BF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@CucumberOptions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"src/test/resources/features"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glue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= {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"id.dibimbing.qa.steps"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"id.dibimbing.qa.hooks"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 {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"pretty"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"html:target/cucumber-report.html"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monochrome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TestRunner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AbstractTestNGCucumberTests</a:t>
            </a:r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}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13232" y="3202686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Four ways to run it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94944" y="339471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3486150"/>
            <a:ext cx="4736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right-click TestRunner -&gt; Run 'TestRunner'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click the green arrow beside a Scenario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mvn clean test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gradle clean test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52160" y="1294130"/>
            <a:ext cx="2916936" cy="1164527"/>
          </a:xfrm>
          <a:prstGeom prst="roundRect">
            <a:avLst>
              <a:gd name="adj" fmla="val 4711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136728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RUNNER OPTIONS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07608" y="1632458"/>
            <a:ext cx="2606040" cy="73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features — where the .feature files live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glue — packages holding steps and hooks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plugin — the report formats to produce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852160" y="2604960"/>
            <a:ext cx="2916936" cy="1477582"/>
          </a:xfrm>
          <a:prstGeom prst="roundRect">
            <a:avLst>
              <a:gd name="adj" fmla="val 3713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89320" y="2678113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COMMON ERRORS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007608" y="2943289"/>
            <a:ext cx="2606040" cy="1047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“Undefined step” — the glue path is wrong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“No features found” — features are under src/test/java</a:t>
            </a:r>
            <a:endParaRPr lang="en-US" sz="850" dirty="0"/>
          </a:p>
          <a:p>
            <a:pPr marL="152400" indent="-152400">
              <a:lnSpc>
                <a:spcPts val="1233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Duplicate step definition — same sentence twice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Open target/cucumber-report.html after the run — that file is what you attach to a bug report.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3" name="Shape 1"/>
          <p:cNvSpPr/>
          <p:nvPr/>
        </p:nvSpPr>
        <p:spPr>
          <a:xfrm>
            <a:off x="3667658" y="0"/>
            <a:ext cx="5476342" cy="5143500"/>
          </a:xfrm>
          <a:prstGeom prst="rect">
            <a:avLst/>
          </a:prstGeom>
          <a:solidFill>
            <a:srgbClr val="34BF79"/>
          </a:solidFill>
          <a:ln/>
        </p:spPr>
      </p:sp>
      <p:sp>
        <p:nvSpPr>
          <p:cNvPr id="4" name="Text 2"/>
          <p:cNvSpPr/>
          <p:nvPr/>
        </p:nvSpPr>
        <p:spPr>
          <a:xfrm>
            <a:off x="687629" y="1572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7629" y="190195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Skeleton &amp; References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3703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“Standing on the shoulders of the official docs.”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69080" y="141732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950" b="1" spc="160" kern="0" dirty="0">
                <a:solidFill>
                  <a:srgbClr val="D9F5E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SLIDES 31 – 35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🏗️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recommended folder skeleton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Best practices, do and don't</a:t>
            </a:r>
            <a:endParaRPr lang="en-US" sz="950" dirty="0"/>
          </a:p>
          <a:p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🔗   </a:t>
            </a:r>
            <a:pPr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Official documentation links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31 / 35   ·   SKELETON &amp; REFERENCES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best-practice skeleton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Project tree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94944" y="1380744"/>
            <a:ext cx="4937760" cy="2807208"/>
          </a:xfrm>
          <a:prstGeom prst="roundRect">
            <a:avLst>
              <a:gd name="adj" fmla="val 1954"/>
            </a:avLst>
          </a:prstGeom>
          <a:solidFill>
            <a:srgbClr val="F2F8F9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72184"/>
            <a:ext cx="47365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saucedemo-bdd-framework/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pom.xml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build.gradle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src/test/java/id/dibimbing/qa/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ConfigReader.java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DriverFactory.java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DriverManager.java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BasePage.java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LoginPage.java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ProductsPage.java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CartPage.java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CheckoutPage.java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LoginSteps.java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CheckoutSteps.java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TestRunner.java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WaitUtils.java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src/test/resources/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login.feature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checkout.feature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A3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config.properties</a:t>
            </a:r>
            <a:endParaRPr lang="en-US" sz="850" dirty="0"/>
          </a:p>
          <a:p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02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target/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8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</a:t>
            </a:r>
            <a:pPr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627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output, git-ignored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852160" y="1340358"/>
            <a:ext cx="2916936" cy="1440370"/>
          </a:xfrm>
          <a:prstGeom prst="roundRect">
            <a:avLst>
              <a:gd name="adj" fmla="val 3809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41351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  WHY THIS SHAPE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07608" y="1678686"/>
            <a:ext cx="2606040" cy="1010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package per responsibility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page object per page, one feature per module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new module adds one feature and one steps class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Nothing in src/main — this repository only tests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852160" y="2927033"/>
            <a:ext cx="2916936" cy="1109281"/>
          </a:xfrm>
          <a:prstGeom prst="roundRect">
            <a:avLst>
              <a:gd name="adj" fmla="val 4946"/>
            </a:avLst>
          </a:prstGeom>
          <a:solidFill>
            <a:srgbClr val="FDECEA"/>
          </a:solidFill>
          <a:ln w="9525">
            <a:solidFill>
              <a:srgbClr val="F5B7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3000185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2B2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⚠️   SMELLS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07608" y="3265361"/>
            <a:ext cx="2606040" cy="679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utils package larger than the pages package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Step classes named Steps1, Steps2</a:t>
            </a:r>
            <a:endParaRPr lang="en-US" sz="750" dirty="0"/>
          </a:p>
          <a:p>
            <a:pPr marL="152400" indent="-152400">
              <a:lnSpc>
                <a:spcPts val="1088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Locators appearing anywhere outside pages/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FFF9E8"/>
          </a:solidFill>
          <a:ln w="9525">
            <a:solidFill>
              <a:srgbClr val="F0C67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💡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1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Add .gitignore on day one: target/, build/, .idea/, *.iml, test-output/, screenshots/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32 / 35   ·   SKELETON &amp; REFERENCES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Scaling checklist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1188720"/>
          <a:ext cx="807415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2606040"/>
                <a:gridCol w="3136392"/>
              </a:tblGrid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When you have…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Add this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So that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More than 20 scenarios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Tags: @smoke, @regression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CI runs smoke in minutes, regression nightly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More than 5 page objects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 BasePage with shared actions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find, click, type and wait exist once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Flaky timing failures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WaitUtils with explicit waits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 Thread.sleep survives code review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Several environments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config-staging / config-prod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One -D flag switches the whole target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Slow full runs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Parallel scenarios via TestNG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The ThreadLocal driver already makes this safe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Repeated test data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 data package or JSON files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Data changes without touching Java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Failures nobody can debug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Screenshot and log on failure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 report is enough to file the bug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 second team joining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README with the run commands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Onboarding takes an hour, not a week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🏗️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Add each of these when the pain appears — not on day one. Premature structure costs as much as none.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33 / 35   ·   SKELETON &amp; REFERENCES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Best practices — do and don’t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Shape 5"/>
          <p:cNvSpPr/>
          <p:nvPr/>
        </p:nvSpPr>
        <p:spPr>
          <a:xfrm>
            <a:off x="694944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25296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— one version source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25296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Declare every library version in &lt;properties&gt; or ext { }. An upgrade becomes a one-line diff.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37176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65192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⛔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67528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Don’t — hard-code anything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67528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URLs, credentials, timeouts and paths belong in config.properties, never in a Java file.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94944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25296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— explicit waits only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225296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WebDriverWait with a named condition. Delete every Thread.sleep you find in review.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37176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65192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⛔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67528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Don’t — assert in page objects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367528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Assertions belong in Then steps. A page object that asserts cannot be reused.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94944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25296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— independent scenarios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225296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Each scenario gets a fresh browser and its own state. Execution order must never matter.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837176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5192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⛔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367528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Don’t — one giant feature file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367528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file per module. When a feature file needs a scroll bar, it needs splitting.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🎯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test of a good framework: a new joiner adds a working scenario on day one without asking where anything goes.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34 / 35   ·   SKELETON &amp; REFERENCES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References — Selenium &amp; BDD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1188720"/>
          <a:ext cx="807415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5376672"/>
              </a:tblGrid>
              <a:tr h="298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Topic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Official link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</a:tr>
              <a:tr h="298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Selenium documentation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https://www.selenium.dev/documentation/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Install Selenium (Maven / Gradle)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https://www.selenium.dev/documentation/webdriver/getting_started/install_library/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298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Selenium Manager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https://www.selenium.dev/documentation/selenium_manager/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Page Object Models — official guidance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https://www.selenium.dev/documentation/test_practices/encouraged/page_object_models/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298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W3C WebDriver specification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https://www.w3.org/TR/webdriver2/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Selenium source &amp; examples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https://github.com/SeleniumHQ/selenium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298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Cucumber for Java — installation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https://cucumber.io/docs/installation/java/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Gherkin reference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https://cucumber.io/docs/gherkin/reference/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298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TestNG documentation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https://testng.org/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🔗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Prefer official documentation over blog posts. Blogs age badly; Selenium 3 advice is still the top search result.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35 / 35   ·   SKELETON &amp; REFERENCES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References — build tools &amp; IDE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1188720"/>
          <a:ext cx="807415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5376672"/>
              </a:tblGrid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Topic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Official link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3A6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Introduction to the POM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https://maven.apache.org/guides/introduction/introduction-to-the-pom.html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Maven standard directory layout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https://maven.apache.org/guides/introduction/introduction-to-the-standard-directory-layout.html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Maven Surefire plugin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https://maven.apache.org/surefire/maven-surefire-plugin/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Gradle — testing in Java projects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https://docs.gradle.org/current/userguide/java_testing.html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IntelliJ IDEA — Maven support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https://www.jetbrains.com/help/idea/maven-support.html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IntelliJ IDEA — Gradle support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https://www.jetbrains.com/help/idea/gradle.html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Maven Central — search any artifact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https://central.sonatype.com/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The application under test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https://www.saucedemo.com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📌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Versions used in this deck, verified August 2026: Selenium 4.47.0 · Cucumber 7.34.6 · TestNG 7.11.0 · Surefire 3.5.6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623" y="95098"/>
            <a:ext cx="838505" cy="255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4856378"/>
            <a:ext cx="3329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00430" y="219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4BF7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WRAP 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1286" y="579730"/>
            <a:ext cx="74066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🎓  Key Takeaways — A07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1286" y="979322"/>
            <a:ext cx="2926080" cy="32004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8" name="Shape 5"/>
          <p:cNvSpPr/>
          <p:nvPr/>
        </p:nvSpPr>
        <p:spPr>
          <a:xfrm>
            <a:off x="694944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🏛️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25296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Four layers, one protocol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25296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Test code → binding → driver → browser, over the W3C WebDriver protocol. Every error maps to one of those hops.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37176" y="118872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65192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📦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67528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place for every version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67528" y="1572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Maven &lt;properties&gt; or Gradle ext { }. A stack upgrade should be a one-line diff, not a search-and-replace.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94944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⚙️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25296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Nothing hard-coded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225296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URLs, credentials and timeouts live in config.properties, overridable with -D from CI.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37176" y="2231136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65192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🧵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67528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ThreadLocal from day one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367528" y="261518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It costs ten lines now and buys you parallel execution later without a rewrite.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94944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🥒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25296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Features are for humans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225296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If a locator appears in a .feature file, the whole point of BDD has been lost.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837176" y="327355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FE6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5192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🏗️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367528" y="33649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Structure by responsibility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367528" y="365760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config, driver, pages, steps, hooks, runner, utils. A new module should touch two files, not twenty.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94944" y="4297680"/>
            <a:ext cx="8074152" cy="402336"/>
          </a:xfrm>
          <a:prstGeom prst="roundRect">
            <a:avLst>
              <a:gd name="adj" fmla="val 13636"/>
            </a:avLst>
          </a:prstGeom>
          <a:solidFill>
            <a:srgbClr val="E8F6F1"/>
          </a:solidFill>
          <a:ln w="9525">
            <a:solidFill>
              <a:srgbClr val="9FDBC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" y="42976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🏁 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E6F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framework is not extra work. It is the work that makes the next two hundred tests cheap.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93A6"/>
          </a:solidFill>
          <a:ln/>
        </p:spPr>
      </p:sp>
      <p:sp>
        <p:nvSpPr>
          <p:cNvPr id="3" name="Shape 1"/>
          <p:cNvSpPr/>
          <p:nvPr/>
        </p:nvSpPr>
        <p:spPr>
          <a:xfrm>
            <a:off x="3667658" y="0"/>
            <a:ext cx="5476342" cy="5143500"/>
          </a:xfrm>
          <a:prstGeom prst="rect">
            <a:avLst/>
          </a:prstGeom>
          <a:solidFill>
            <a:srgbClr val="34BF79"/>
          </a:solidFill>
          <a:ln/>
        </p:spPr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629" y="548640"/>
            <a:ext cx="1268273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7629" y="2011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293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Terima kasih!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87629" y="26700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Thank you — questions are welcome.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87629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Arief Rahman Hakim - https://github.com/ariefrahakim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069080" y="1463040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Questions?</a:t>
            </a:r>
            <a:endParaRPr lang="en-US" sz="2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🎯   </a:t>
            </a:r>
            <a:pPr indent="0" marL="0">
              <a:lnSpc>
                <a:spcPts val="2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 under test: www.saucedemo.com</a:t>
            </a:r>
            <a:endParaRPr lang="en-US" sz="2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📚   </a:t>
            </a:r>
            <a:pPr indent="0" marL="0">
              <a:lnSpc>
                <a:spcPts val="2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All references: selenium.dev/documentation</a:t>
            </a:r>
            <a:endParaRPr lang="en-US" sz="2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💻   </a:t>
            </a:r>
            <a:pPr indent="0" marL="0">
              <a:lnSpc>
                <a:spcPts val="2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github.com/ariefrahakim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Selenium Java Automation Framework — A07</dc:title>
  <dc:subject>PptxGenJS Presentation</dc:subject>
  <dc:creator>Arief Rahman Hakim</dc:creator>
  <cp:lastModifiedBy>Arief Rahman Hakim</cp:lastModifiedBy>
  <cp:revision>1</cp:revision>
  <dcterms:created xsi:type="dcterms:W3CDTF">2026-08-13T13:26:48Z</dcterms:created>
  <dcterms:modified xsi:type="dcterms:W3CDTF">2026-08-13T13:26:48Z</dcterms:modified>
</cp:coreProperties>
</file>