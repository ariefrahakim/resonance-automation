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4"/>
    <p:sldId id="257" r:id="rId55"/>
    <p:sldId id="258" r:id="rId56"/>
    <p:sldId id="259" r:id="rId57"/>
    <p:sldId id="260" r:id="rId58"/>
    <p:sldId id="261" r:id="rId59"/>
    <p:sldId id="262" r:id="rId60"/>
    <p:sldId id="263" r:id="rId61"/>
    <p:sldId id="264" r:id="rId62"/>
    <p:sldId id="265" r:id="rId63"/>
    <p:sldId id="266" r:id="rId64"/>
    <p:sldId id="267" r:id="rId65"/>
    <p:sldId id="268" r:id="rId66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slide" Target="slides/slide1.xml"/><Relationship Id="rId55" Type="http://schemas.openxmlformats.org/officeDocument/2006/relationships/slide" Target="slides/slide2.xml"/><Relationship Id="rId56" Type="http://schemas.openxmlformats.org/officeDocument/2006/relationships/slide" Target="slides/slide3.xml"/><Relationship Id="rId57" Type="http://schemas.openxmlformats.org/officeDocument/2006/relationships/slide" Target="slides/slide4.xml"/><Relationship Id="rId58" Type="http://schemas.openxmlformats.org/officeDocument/2006/relationships/slide" Target="slides/slide5.xml"/><Relationship Id="rId59" Type="http://schemas.openxmlformats.org/officeDocument/2006/relationships/slide" Target="slides/slide6.xml"/><Relationship Id="rId60" Type="http://schemas.openxmlformats.org/officeDocument/2006/relationships/slide" Target="slides/slide7.xml"/><Relationship Id="rId61" Type="http://schemas.openxmlformats.org/officeDocument/2006/relationships/slide" Target="slides/slide8.xml"/><Relationship Id="rId62" Type="http://schemas.openxmlformats.org/officeDocument/2006/relationships/slide" Target="slides/slide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A07 turns the locator knowledge from A05/A06 into a real, maintainable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150 minute session, five theory blocks then the hands-on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— by the end of the session every student has a running project on their own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1: WebDriver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1/35 — Selenium WebDriver — the four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2/35 — One command, end to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3/35 — The W3C WebDriver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4/35 — Selenium Manager — drivers, handled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2: Framework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5/35 — What a framework actually adds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6/35 — The eight components of a BDD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7/35 — Who owns which responsibility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3: IntelliJ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8/35 — Before you start — prerequisites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9/35 — Create a Maven project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10/35 — Create a Gradle project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11/35 — Create the packages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12/35 — Maven standard directory 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4: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13/35 — pom.xml — the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14/35 — The complete dependency block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15/35 — build.gradle — the same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16/35 — Maven vs Gradle for a QA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17/35 — Surefire, and running the suite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5: WebDriver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18/35 — config.properties — SauceDemo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19/35 — ConfigReader — load it once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20/35 — DriverFactory — one driver per thread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21/35 — Creating the driver — options and headless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22/35 — Hooks — the scenario 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6: BDD — Login &amp;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23/35 — Gherkin in sixty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24/35 — Module 1 — login.feature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25/35 — Module 2 — checkout.feature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26/35 — Page object — LoginPage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27/35 — Page object — CheckoutPage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28/35 — Step definitions — LoginSteps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29/35 — Step definitions — CheckoutSteps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30/35 — TestRunner — and running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7: Skeleton &amp;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31/35 — The best-practice skeleton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32/35 — Scaling checklist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33/35 — Best practices — do and don’t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34/35 — References — Selenium &amp; BDD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35/35 — References — build tools &amp; 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— six rules that cover almost every locator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DD7EE"/>
                </a:solidFill>
                <a:latin typeface="Calibri"/>
              </a:rPr>
              <a:t>Day-33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Data Binding in UI &amp; API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  <a:latin typeface="Calibri"/>
              </a:rPr>
              <a:t>Using Selenium + REST Assured with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  <a:latin typeface="Calibri"/>
              </a:rPr>
              <a:t>Resonance Automation Framework  |  QA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Exercise: Using data binding for UI and API automation
with Selenium and REST Assured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DD7EE"/>
                </a:solidFill>
                <a:latin typeface="Calibri"/>
              </a:rPr>
              <a:t>Day-33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Data Binding in UI &amp; API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  <a:latin typeface="Calibri"/>
              </a:rPr>
              <a:t>Using Selenium + REST Assured with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  <a:latin typeface="Calibri"/>
              </a:rPr>
              <a:t>Resonance Automation Framework  |  QA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Exercise: Using data binding for UI and API automation
with Selenium and REST Assured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What we will cover in this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01.  What is Data Binding / Data-Driven Testing?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02.  Data Binding in API Automation — TestNG @DataProvider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03.  Data Binding in UI Automation — Cucumber Scenario Outline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04.  Architecture: How data flows through the framework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05.  State Sharing with JSON files (token, ticket ID, etc.)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06.  Bearer Token Authentication Flow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07.  Live Demo &amp; Hands-on Exercise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08.  Best Practices &amp;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What we will cover in this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01.  What is Data Binding / Data-Driven Testing?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02.  Data Binding in API Automation — TestNG @DataProvider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03.  Data Binding in UI Automation — Cucumber Scenario Outline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04.  Architecture: How data flows through the framework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05.  State Sharing with JSON files (token, ticket ID, etc.)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06.  Bearer Token Authentication Flow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07.  Live Demo &amp; Hands-on Exercise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62626"/>
                </a:solidFill>
                <a:latin typeface="Calibri"/>
              </a:rPr>
              <a:t>08.  Best Practices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is Data-Driven Testing?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Separating test logic from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  <a:latin typeface="Calibri"/>
              </a:rPr>
              <a:t>Data-Driven Testing (DDT) runs the same test logic
with different input values —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402336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WITHOUT Data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One test method per scenario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Duplicate code for each case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Hard to maintain or extend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Hardcoded values in test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 Data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One test method, many data rows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Logic written once, runs N times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Add new cases by adding a row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Data sourced from config/file/method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→  In this repo: TestNG @DataProvider (API) + Cucumber Scenario Outline (Web)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is Data-Driven Testing?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Separating test logic from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  <a:latin typeface="Calibri"/>
              </a:rPr>
              <a:t>Data-Driven Testing (DDT) runs the same test logic
with different input values —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402336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WITHOUT Data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One test method per scenario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Duplicate code for each case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Hard to maintain or extend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Hardcoded values in test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 Data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One test method, many data rows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Logic written once, runs N times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Add new cases by adding a row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• Data sourced from config/file/method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→  In this repo: TestNG @DataProvider (API) + Cucumber Scenario Outline (Web)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Binding — API: TestNG @DataProvider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src/test/java/data/  →  DataProvider classes supply rows to @Test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How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1.  @DataProvider method returns Object[][] — outer array = rows, inner = columns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2.  @Test method declares matching parameters (position-matched)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3.  TestNG calls the @Test method once per row — parallel or sequential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4.  Credentials &amp; config read from ConfigReader (never hardcoded!)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LoginDataProvider.java  (data/LoginDataProvider.java)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88920"/>
            <a:ext cx="8595360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@DataProvider(name = "loginValidData")
public static Object[][] loginValidData() {
    String user = ConfigReader.getProperty("usernameOrEmailResonance");
    String pass = ConfigReader.getProperty("passwordResonance");
    return new Object[][] {
        { user, pass, "Login with valid username from config" },
    };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Binding — API: TestNG @DataProvider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src/test/java/data/  →  DataProvider classes supply rows to @Test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How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1.  @DataProvider method returns Object[][] — outer array = rows, inner = columns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2.  @Test method declares matching parameters (position-matched)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3.  TestNG calls the @Test method once per row — parallel or sequential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4.  Credentials &amp; config read from ConfigReader (never hardcoded!)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LoginDataProvider.java  (data/LoginDataProvider.java)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88920"/>
            <a:ext cx="8595360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@DataProvider(name = "loginValidData")
public static Object[][] loginValidData() {
    String user = ConfigReader.getProperty("usernameOrEmailResonance");
    String pass = ConfigReader.getProperty("passwordResonance");
    return new Object[][] {
        { user, pass, "Login with valid username from config" },
    };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@Test Method Consuming @DataProvider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src/test/java/tests/api/auth/LoginApiTest.java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The @Test method receives one row per execution: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366"/>
                </a:solidFill>
                <a:latin typeface="Courier New"/>
              </a:rPr>
              <a:t>@Test(priority = 2,
      dataProvider = "loginValidData",
      dataProviderClass = LoginDataProvider.class,
      description = "Login with multiple valid credential sets")
public void testLoginWithValidData(
        String username, String password, String scenario) {
    System.out.println("[INFO] Scenario: " + scenario);
    Response response = baseRequest()
            .body(LoginBody.build(username, password).toString())
            .post("/api/rest/login");
    Assert.assertEquals(response.getStatusCode(), 200,
            "Login must succeed for: " + scenario);
    Assert.assertNotNull(response.jsonPath().getString("token"),
            "Bearer token must be returned");
}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97D"/>
                </a:solidFill>
                <a:latin typeface="Calibri"/>
              </a:rPr>
              <a:t>→  TestNG runs this method once per row in loginValidData — same code, different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@Test Method Consuming @DataProvider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src/test/java/tests/api/auth/LoginApiTest.java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The @Test method receives one row per execution: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3366"/>
                </a:solidFill>
                <a:latin typeface="Courier New"/>
              </a:rPr>
              <a:t>@Test(priority = 2,
      dataProvider = "loginValidData",
      dataProviderClass = LoginDataProvider.class,
      description = "Login with multiple valid credential sets")
public void testLoginWithValidData(
        String username, String password, String scenario) {
    System.out.println("[INFO] Scenario: " + scenario);
    Response response = baseRequest()
            .body(LoginBody.build(username, password).toString())
            .post("/api/rest/login");
    Assert.assertEquals(response.getStatusCode(), 200,
            "Login must succeed for: " + scenario);
    Assert.assertNotNull(response.jsonPath().getString("token"),
            "Bearer token must be returned");
}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97D"/>
                </a:solidFill>
                <a:latin typeface="Calibri"/>
              </a:rPr>
              <a:t>→  TestNG runs this method once per row in loginValidData — same code, different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Binding — Web: Cucumber Scenario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src/test/resources/features/login.feature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Scenario Outline + Examples table = data binding in Gherkin BDD: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859536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@negative
Scenario Outline: Login fails with invalid credentials
  When  I enter username "&lt;username&gt;"
  And   I enter password "&lt;password&gt;"
  And   I click the Login button
  Then  I should see an error or stay on the login page
  Examples:
    | username                  | password      |
    | unknown_user@fake.com     | password      |
    | user1                     | wrongpassword |
    | user1                     | ab         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Cucumber runs the scenario once per row in the Examples 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&lt;placeholder&gt; values are substituted automatically at runtime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Step definitions stay the same — data changes, logic does not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Binding — Web: Cucumber Scenario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src/test/resources/features/login.feature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Scenario Outline + Examples table = data binding in Gherkin BDD: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859536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@negative
Scenario Outline: Login fails with invalid credentials
  When  I enter username "&lt;username&gt;"
  And   I enter password "&lt;password&gt;"
  And   I click the Login button
  Then  I should see an error or stay on the login page
  Examples:
    | username                  | password      |
    | unknown_user@fake.com     | password      |
    | user1                     | wrongpassword |
    | user1                     | ab         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Cucumber runs the scenario once per row in the Examples 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&lt;placeholder&gt; values are substituted automatically at runtime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497D"/>
                </a:solidFill>
                <a:latin typeface="Calibri"/>
              </a:rPr>
              <a:t>→  Step definitions stay the same — data changes, logic does not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Framework Architecture —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How test data moves from source to assertion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5603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config.properties
+ DataProvider
+ Examples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2560320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Method / Step
Definition
(@Test / @When)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2560320" cy="822960"/>
          </a:xfrm>
          <a:prstGeom prst="rect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Assertion
Assert.assertEquals
/ Then clause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25603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Page Object
(pages/LoginPage.java)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Request
(authRequest() /
baseRequest())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51760"/>
            <a:ext cx="2560320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JSON State Files
(token.json,
ticket_id.json)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97D"/>
                </a:solidFill>
                <a:latin typeface="Calibri"/>
              </a:rPr>
              <a:t>API Flow:  DataProvider → BaseApiTest.authRequest() → REST Assured → Response Assertion
Web Flow:  Examples Table → Step Definition → Page Object → Selenium Action → Cucumber Then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Framework Architecture —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How test data moves from source to assertion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5603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config.properties
+ DataProvider
+ Examples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2560320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Method / Step
Definition
(@Test / @When)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2560320" cy="822960"/>
          </a:xfrm>
          <a:prstGeom prst="rect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Assertion
Assert.assertEquals
/ Then clause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25603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Page Object
(pages/LoginPage.java)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Request
(authRequest() /
baseRequest())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51760"/>
            <a:ext cx="2560320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79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JSON State Files
(token.json,
ticket_id.json)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97D"/>
                </a:solidFill>
                <a:latin typeface="Calibri"/>
              </a:rPr>
              <a:t>API Flow:  DataProvider → BaseApiTest.authRequest() → REST Assured → Response Assertion
Web Flow:  Examples Table → Step Definition → Page Object → Selenium Action → Cucumber Then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State Sharing Between Test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src/main/resources/json/ — Bridges test execution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Why JSON state files?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TestNG tests run in priority order across classes. One class creates a resource (ticket),
and a subsequent class needs its ID. JSON files bridge that gap without a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859536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// LoginApiTest — saves token after successful login
String token = response.jsonPath().getString("token");
JsonFileManager.writeValue(TOKEN_FILE, "token", token);
// BaseApiTest — reads token for every authenticated request
protected RequestSpecification authRequest() {
    String token = JsonFileManager.readValue(TOKEN_FILE, "token");
    return given()
            .contentType(ContentType.JSON)
            .header("Authorization", "Bearer " + token);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041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token.json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0416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"token": "eyJhbGci..."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41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Bearer token from POST /api/rest/login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79392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2976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ticket_id.json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976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"ticketId": "cmtx5pkz..."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97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Ticket ID from POST /api/rest/createTicket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35424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5537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comment_id.json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537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"commentId": "cm7abc..."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5537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Comment ID from POST /api/rest/createComment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91456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8097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progression_id.json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8097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"progressionId": "cm9xyz..."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097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Progression ID from POST /api/rest/createProgression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State Sharing Between Test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src/main/resources/json/ — Bridges test execution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Why JSON state files?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TestNG tests run in priority order across classes. One class creates a resource (ticket),
and a subsequent class needs its ID. JSON files bridge that gap without a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859536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// LoginApiTest — saves token after successful login
String token = response.jsonPath().getString("token");
JsonFileManager.writeValue(TOKEN_FILE, "token", token);
// BaseApiTest — reads token for every authenticated request
protected RequestSpecification authRequest() {
    String token = JsonFileManager.readValue(TOKEN_FILE, "token");
    return given()
            .contentType(ContentType.JSON)
            .header("Authorization", "Bearer " + token);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041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token.json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0416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"token": "eyJhbGci..."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41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Bearer token from POST /api/rest/login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79392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2976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ticket_id.json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976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"ticketId": "cmtx5pkz..."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97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Ticket ID from POST /api/rest/createTicket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35424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5537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comment_id.json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537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"commentId": "cm7abc..."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5537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Comment ID from POST /api/rest/createComment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91456"/>
            <a:ext cx="16459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8097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progression_id.json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8097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66"/>
                </a:solidFill>
                <a:latin typeface="Courier New"/>
              </a:rPr>
              <a:t>{ "progressionId": "cm9xyz..."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097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Progression ID from POST /api/rest/createProgression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Bearer Token 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POST /api/rest/login → token → Authorization: Bearer &lt;token&gt;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868680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89611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LoginApiTest runs first (priority =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16152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POST /api/rest/login with credentials from config.properties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18488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618488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Server validates credentials, returns Bearer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6596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Response: { "ok": true, "token": "eyJhbGci...", "user": { ... }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68296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51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368296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395727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Token saved to token.json via JsonFileManager.writeValue()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15768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File: src/main/resources/json/token.json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18103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3009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118103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145535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All subsequent tests call authRequest() which reads token.json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65575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Header added: Authorization: Bearer &lt;token&gt;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67911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5079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867911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895344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Server validates the Bearer token on protected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215383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If token is missing/invalid → 401 Unauthorized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Bearer Token 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POST /api/rest/login → token → Authorization: Bearer &lt;token&gt;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868680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89611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LoginApiTest runs first (priority =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16152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POST /api/rest/login with credentials from config.properties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18488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618488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Server validates credentials, returns Bearer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6596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Response: { "ok": true, "token": "eyJhbGci...", "user": { ... }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68296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51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368296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395727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Token saved to token.json via JsonFileManager.writeValue()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15768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File: src/main/resources/json/token.json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18103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3009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118103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145535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All subsequent tests call authRequest() which reads token.json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65575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Header added: Authorization: Bearer &lt;token&gt;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67911"/>
            <a:ext cx="109728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5079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867911"/>
            <a:ext cx="740664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895344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Server validates the Bearer token on protected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215383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If token is missing/invalid → 401 Unauthorized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Hands-on Exercise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Clone → Configure → Run →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1.  Clone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git clone https://github.com/ariefrahakim/resonance-automation.git
cd resonance-automation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2.  Review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756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# src/main/resources/config.properties
baseUrlResonance=https://resonance.dibimbing.id
usernameOrEmailResonance=user1
passwordResonance=password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3.  Run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./gradlew clean apiTest      # Run API tests (TestNG + REST Assured)
./gradlew clean webTest      # Run Web tests (Cucumber + Selenium)
./gradlew allureServe        # Open Allure HTML report in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118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4.  Observe Data Binding in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API: LoginApiTest runs testLoginWithValidData() once per row in loginValidData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API: CreateTicketTest runs 3 times (public, private, bug report)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Web: Login scenario outline runs 3 times with different credential rows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Hands-on Exercise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Clone → Configure → Run →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1.  Clone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git clone https://github.com/ariefrahakim/resonance-automation.git
cd resonance-automation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2.  Review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756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# src/main/resources/config.properties
baseUrlResonance=https://resonance.dibimbing.id
usernameOrEmailResonance=user1
passwordResonance=password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3.  Run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6"/>
                </a:solidFill>
                <a:latin typeface="Courier New"/>
              </a:rPr>
              <a:t>./gradlew clean apiTest      # Run API tests (TestNG + REST Assured)
./gradlew clean webTest      # Run Web tests (Cucumber + Selenium)
./gradlew allureServe        # Open Allure HTML report in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118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4.  Observe Data Binding in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API: LoginApiTest runs testLoginWithValidData() once per row in loginValidData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API: CreateTicketTest runs 3 times (public, private, bug report)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62626"/>
                </a:solidFill>
                <a:latin typeface="Calibri"/>
              </a:rPr>
              <a:t>→  Web: Login scenario outline runs 3 times with different credential rows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Exercise — Your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Apply data binding to UI and API automation using Selenium and REST Assured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Exercise: Data Binding for UI &amp; API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API Tasks (REST Assured + TestNG @DataProvider):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1 (API): Add a new row to CommentDataProvider with your own comment 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CreateCommentTest — verify it runs for all rows including yours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2 (API): Add a negative row to createTicketInvalidData (e.g., title &gt; 200 chars)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NegativeTicketTest — verify the new case is rejected by the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3 (API): Modify LoginDataProvider.loginInvalidData to use Utils.generateRandomEmail()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Verify each run uses a different random email (check console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Web Tasks (Selenium + Cucumber Scenario Outline):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4 (Web): Add a new row to the login.feature Scenario Outline Examples table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webTest — verify your new row is executed as a separate scenario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5 (Web): Create a new Scenario Outline for Create Ticket with 2+ data rows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Add it to create_ticket.feature and run the web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Goal: understand that test logic stays the same — only data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Exercise — Your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Apply data binding to UI and API automation using Selenium and REST Assured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Exercise: Data Binding for UI &amp; API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API Tasks (REST Assured + TestNG @DataProvider):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1 (API): Add a new row to CommentDataProvider with your own comment 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CreateCommentTest — verify it runs for all rows including yours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2 (API): Add a negative row to createTicketInvalidData (e.g., title &gt; 200 chars)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NegativeTicketTest — verify the new case is rejected by the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3 (API): Modify LoginDataProvider.loginInvalidData to use Utils.generateRandomEmail()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Verify each run uses a different random email (check console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Web Tasks (Selenium + Cucumber Scenario Outline):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4 (Web): Add a new row to the login.feature Scenario Outline Examples table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Run webTest — verify your new row is executed as a separate scenario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Task 5 (Web): Create a new Scenario Outline for Create Ticket with 2+ data rows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  <a:latin typeface="Calibri"/>
              </a:rPr>
              <a:t>             Add it to create_ticket.feature and run the web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Goal: understand that test logic stays the same — only data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Best Practices — Data Binding in QA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696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Never hardcode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2471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Use ConfigReader to read from config.properties. One change propagates everywhere.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Use Utils for randomness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1907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Utils.generateRandomString() / generateRandomEmail() ensure unique, repeatable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8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7568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Keep DataProvider and test separate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1343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DataProvider classes live in data/. Test logic in tests/. Single responsibility.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7004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Cover boundary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07791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Include min-length, max-length, empty, null cases in your negative DataProviders.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337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Describe each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The third column (scenario description) prints to console — makes failures easy to trace.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931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5876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Order tests intentionally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Use @Test(priority = N): login first, create resource, then update/delete in sequence.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52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State sharing via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9087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Write IDs to JSON files after creation; read them in subsequent tests. Never chain with globals.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Best Practices — Data Binding in QA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696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Never hardcode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2471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Use ConfigReader to read from config.properties. One change propagates everywhere.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Use Utils for randomness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1907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Utils.generateRandomString() / generateRandomEmail() ensure unique, repeatable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8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7568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Keep DataProvider and test separate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1343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DataProvider classes live in data/. Test logic in tests/. Single responsibility.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7004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Cover boundary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07791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Include min-length, max-length, empty, null cases in your negative DataProviders.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337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Describe each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The third column (scenario description) prints to console — makes failures easy to trace.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931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5876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Order tests intentionally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Use @Test(priority = N): login first, create resource, then update/delete in sequence.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548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52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State sharing via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90872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Write IDs to JSON files after creation; read them in subsequent tests. Never chain with globals.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Data-driven testing = one test method + many data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API: @DataProvider returns Object[][] → @Test parameters match by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Web: Scenario Outline + Examples table = Gherkin data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ConfigReader eliminates hardcoded credentials across all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Utils.generateRandomString() creates unique, repeatable test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JSON state files (token.json, ticket_id.json) bridge test class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Bearer token: login once → save token → all tests reuse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 &amp; A  |  GitHub: https://github.com/ariefrahakim/resonance-automation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Data-driven testing = one test method + many data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API: @DataProvider returns Object[][] → @Test parameters match by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Web: Scenario Outline + Examples table = Gherkin data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ConfigReader eliminates hardcoded credentials across all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Utils.generateRandomString() creates unique, repeatable test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JSON state files (token.json, ticket_id.json) bridge test class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Bearer token: login once → save token → all tests reuse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 &amp; A  |  GitHub: https://github.com/ariefrahakim/resonance-automation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you start — prerequisites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JDK 17 or newer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4 requires Java 11+; JDK 17 or 21 LTS is the safe choice. Verify with java -version.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IntelliJ IDEA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Community Edition is enough for Maven, Gradle, TestNG and Cucumber. Ultimate adds nicer Gherkin tooling.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 plugin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Settings → Plugins → install “Cucumber for Java” and “Gherkin” so steps link to their definitions.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modern browser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Chrome, Firefox or Edge. Selenium Manager will fetch the matching driver automatically.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📡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Network on first run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or Gradle downloads dependencies, and Selenium Manager fetches the driver, on the first build only.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target app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https://www.saucedemo.com — a free, stable e-commerce playground with a documented login and checkout flow.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 first: java -version, then mvn -v (Maven) or gradle -v (Gradle). IntelliJ can also supply its own bundled tools.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Maven project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the wizard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screen → New Project. Or, with a project open, File → New → Project.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and location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Name: saucedemo-bdd-framework. Choose a location. Optionally tick Create Git repository.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 and build system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Language: Java. Build system: Maven. Leave “Add sample code” unticked.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Select the JDK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Pick JDK 17 or 21. If none is listed, choose Download JDK and let IntelliJ install it.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Settings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Expand it and set GroupId: id.dibimbing.qa — ArtifactId: saucedemo-bdd-framework.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and sync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Create. IntelliJ generates pom.xml and opens the Maven tool window; it syncs automatically.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🔄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 editing pom.xml, click the Maven reload icon (or Ctrl+Shift+O) so IntelliJ re-resolves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Gradle project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the wizard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screen → New Project, or File → New → Project from an open window.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and location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Name: saucedemo-bdd-framework. Set the directory, and Git if you want it.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system: Gradle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Language: Java. Build system: Gradle. This is the only step that differs from Maven.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the Gradle DSL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Groovy gives you build.gradle; Kotlin gives build.gradle.kts. Groovy is the common choice for QA teams.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Settings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Gradle distribution: Wrapper (recommended). Set GroupId and ArtifactId as with Maven.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and sync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Create. IntelliJ generates build.gradle, settings.gradle and the wrapper, then syncs.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🐘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the Gradle Wrapper so every teammate and your CI server build with exactly the same Gradle version.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the packages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92339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IntelliJ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4363"/>
            <a:ext cx="4937760" cy="1165225"/>
          </a:xfrm>
          <a:prstGeom prst="roundRect">
            <a:avLst>
              <a:gd name="adj" fmla="val 4708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5803"/>
            <a:ext cx="4736592" cy="982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once: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id.dibimbing.qa.pages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for: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3232" y="2686748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result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2878772"/>
            <a:ext cx="4937760" cy="1305560"/>
          </a:xfrm>
          <a:prstGeom prst="roundRect">
            <a:avLst>
              <a:gd name="adj" fmla="val 4202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970212"/>
            <a:ext cx="4736592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src/test/java/id/dibimbing/qa/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WaitUtils.java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1275715"/>
            <a:ext cx="2916936" cy="1468374"/>
          </a:xfrm>
          <a:prstGeom prst="roundRect">
            <a:avLst>
              <a:gd name="adj" fmla="val 37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48867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TIPS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07608" y="1614043"/>
            <a:ext cx="2606040" cy="103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 the whole dotted name — IntelliJ nests it for you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Enable Settings → Project View → Compact Middle Packages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every test class under src/test/java, not src/main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852160" y="2890393"/>
            <a:ext cx="2916936" cy="1210564"/>
          </a:xfrm>
          <a:prstGeom prst="roundRect">
            <a:avLst>
              <a:gd name="adj" fmla="val 453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96354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COMMON MISTAKES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07608" y="3228721"/>
            <a:ext cx="2606040" cy="78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Creating folders on disk instead of Packages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Putting features under src/test/java (they will not load)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Mixing package names with different company prefixes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 files are resources, not code. They belong in src/test/resources/features.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standard directory layout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044952"/>
              </a:tblGrid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Path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lives there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 this framework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src/main/java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Application source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Usually empty for a test project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src/main/resources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Application 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Usually empty for a test project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src/test/java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 source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pages, steps, hooks, driver, config, runner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src/test/resources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 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features/, config.properties, testng.xml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Everything the build produces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Compiled classes, Cucumber reports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pom.xml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project descriptor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Dependencies, plugins, Java version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.gitignore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Files git must not track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target/, .idea/, *.iml, test-output/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📁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maven.apache.org/guides/introduction/introduction-to-the-standard-directory-layout.html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Dependencies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“One place for every version. Never two.”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13 – 17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anatomy and the full file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🐘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Gradle equivalent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🔁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Runners and version hygiene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the anatomy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5425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Coordinates and properties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446276"/>
            <a:ext cx="4937760" cy="1544955"/>
          </a:xfrm>
          <a:prstGeom prst="roundRect">
            <a:avLst>
              <a:gd name="adj" fmla="val 355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537716"/>
            <a:ext cx="4736592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id.dibimbing.qa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saucedemo-bdd-framework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1.0-SNAPSHOT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.compiler.source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.compiler.source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.compiler.target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.compiler.target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&lt;selenium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4.47.0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&lt;/selenium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&lt;cucumber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7.34.6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&lt;/cucumber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7.11.0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13232" y="3128391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dependency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3320415"/>
            <a:ext cx="4937760" cy="802005"/>
          </a:xfrm>
          <a:prstGeom prst="roundRect">
            <a:avLst>
              <a:gd name="adj" fmla="val 684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411855"/>
            <a:ext cx="473659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org.seleniumhq.selenium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selenium-java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${selenium.version}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12573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304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PROPERTIES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15956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version is declared exactly once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upgrade is a one-line change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Reviewers can see the whole stack at a glance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52160" y="2540508"/>
            <a:ext cx="2916936" cy="1578864"/>
          </a:xfrm>
          <a:prstGeom prst="roundRect">
            <a:avLst>
              <a:gd name="adj" fmla="val 3475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1366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WATCH OUT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2878836"/>
            <a:ext cx="2606040" cy="114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write a literal version twice in one pom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mix Selenium 3 and Selenium 4 artifacts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Avoid version ranges — builds stop being reproducible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groupId + artifactId + version is a Maven coordinate. It uniquely identifies any library on Maven Central.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complete dependency block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dependencies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org.seleniumhq.selenium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selenium-java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${selenium.version}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io.cucumber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cucumber-java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${cucumber.version}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io.cucumber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cucumber-testng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${cucumber.version}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440370"/>
          </a:xfrm>
          <a:prstGeom prst="roundRect">
            <a:avLst>
              <a:gd name="adj" fmla="val 3809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EACH ONE IS FOR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101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selenium-java — the browser automation bindings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cucumber-java — the Gherkin step annotations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cucumber-testng — runs scenarios through TestNG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scope=test keeps them out of any shipped artifact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927033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0018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NOTES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265361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no longer need a WebDriverManager dependency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testng explicitly only if you assert with it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mix Selenium 3 and Selenium 4 artifacts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 August 2026 — Selenium 4.47.0 · Cucumber 7.34.6 · TestNG 7.11.0 · Surefire 3.5.6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build.gradle — the same stack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build.gradle (Groovy DSL)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'java'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'id.dibimbing.qa'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'1.0-SNAPSHOT'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toolchain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JavaLanguageVersion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(17) }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mavenCentral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seleniumV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'4.47.0'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cucumberV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'7.34.6'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"org.seleniumhq.selenium:selenium-java:$seleniumV"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"io.cucumber:cucumber-java:$cucumberV"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"io.cucumber:cucumber-testng:$cucumberV"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98734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7188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GRADLE STRENGTHS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37062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Concise, and it is a real programming language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Incremental builds and a cache make reruns faster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Wrapper pins one Gradle version for everyone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692432"/>
            <a:ext cx="2916936" cy="1385506"/>
          </a:xfrm>
          <a:prstGeom prst="roundRect">
            <a:avLst>
              <a:gd name="adj" fmla="val 3960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76558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GRADLE COSTS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030760"/>
            <a:ext cx="2606040" cy="95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Groovy or Kotlin DSL is another language to learn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 QA tutorials use it than Maven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Debugging a custom build script takes real effort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docs.gradle.org/current/userguide/java_testing.html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vs Gradle for a QA team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309067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 file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pom.xml — XML, declarative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build.gradle — Groovy or Kotlin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Learning curve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Gentle; the structure is fixed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Steeper; more freedom, more choices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 speed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Fine for test suites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Faster on reruns thanks to the cache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Run tests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mvn clean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 clean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Version pinning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&lt;properties&gt; block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 { } block or a version catalog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QA ecosystem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default in most tutorials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Common in Android and product teams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CI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Universal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Universal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Recommendation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Start here for a QA framework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Move here when builds get complex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⚖️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Both do the same job. Pick one per team and stay consistent — a repo with both is a repo nobody can maintain.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Surefire, and running the suite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0472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the build plugin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96746"/>
            <a:ext cx="4937760" cy="1223010"/>
          </a:xfrm>
          <a:prstGeom prst="roundRect">
            <a:avLst>
              <a:gd name="adj" fmla="val 4486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88186"/>
            <a:ext cx="473659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&lt;build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org.apache.maven.plugins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maven-surefire-plugin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3.5.6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&lt;/build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2756916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Running 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2948940"/>
            <a:ext cx="4937760" cy="1223010"/>
          </a:xfrm>
          <a:prstGeom prst="roundRect">
            <a:avLst>
              <a:gd name="adj" fmla="val 4486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040380"/>
            <a:ext cx="473659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Dcucumber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"@smoke"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IntelliJ: right-click TestRunner -&gt; Run 'TestRunner'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1294130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6728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GOOD HABITS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1632458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 scenarios and filter by tag in CI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Pass environment values with -D, never in code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clean before any release build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2761488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3099816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Committing headless=true for the whole team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Running full regression on every commit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Relying on the IDE only — CI must run it too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maven.apache.org/surefire/maven-surefire-plugin/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 Config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“Nothing environment-specific belongs in a test.”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18 – 22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config.properties for SauceDemo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🔑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DriverFactory and ThreadLocal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🧵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Options, headless and hooks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config.properties — SauceDemo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src/test/resources/config.properties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application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base.url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https://www.saucedemo.com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inventory.url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https://www.saucedemo.com/inventory.html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credentials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locked_out_user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glitch.user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performance_glitch_user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secret_sauce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checkout data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Arief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Rahman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checkout.postalcode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driver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explicit.wait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441640"/>
            <a:ext cx="2916936" cy="1265428"/>
          </a:xfrm>
          <a:prstGeom prst="roundRect">
            <a:avLst>
              <a:gd name="adj" fmla="val 43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51479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EXTERNALISE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07608" y="1779968"/>
            <a:ext cx="2606040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file switches the suite to another environment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Credentials stop being scattered across step classes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Reviewers see the test data without reading Java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Used as ConfigReader.get("standard.user")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852160" y="2853373"/>
            <a:ext cx="2916936" cy="1081659"/>
          </a:xfrm>
          <a:prstGeom prst="roundRect">
            <a:avLst>
              <a:gd name="adj" fmla="val 507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2652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IN A REAL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07608" y="3191701"/>
            <a:ext cx="2606040" cy="65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commit production credentials to git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real secrets from environment variables in CI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accounts are public demo data — safe here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lists these accounts on its own login page; they are demo data, not secrets.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ConfigReader — load it once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config/ConfigReader.java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InputStream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getClassLoader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getResourceAsStream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"config.properties"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IllegalStateException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"config.properties not found"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-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30960"/>
            <a:ext cx="2916936" cy="1431544"/>
          </a:xfrm>
          <a:prstGeom prst="roundRect">
            <a:avLst>
              <a:gd name="adj" fmla="val 383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04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DESIGN NOTES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669288"/>
            <a:ext cx="2606040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static block loads the file exactly once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getResourceAsStream works inside a packaged jar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property first lets CI override any value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908808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8196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247136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FileInputStream("src/test/resources/…")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Re-reading the file inside every step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Swallowing the IOException and returning null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 loudly at startup. A null base.url fails much later and far less clearly.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DriverFactory — one driver per thread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driver/DriverFactory.java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ThreadLocal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ThreadLocal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//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leaks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15866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28901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PROS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554194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 for parallel execution from day one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WebDriver threaded through method signatures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place creates it, one place destroys it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2683224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75637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3021552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Forgetting remove() leaks that thread's driver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is hidden global state — keep the class tiny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call quit() from inside a page object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plain static WebDriver field would be shared, and parallel scenarios would fight over one window.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Creating the driver — options and headless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driver/DriverManager.java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"browser"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"headless"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"firefox"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"-headless"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"--headless=new"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"--window-size=1920,1080"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"--disable-notifications"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1367790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4094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USEFUL ARGUMENTS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706118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--headless=new — the modern Chrome headless mode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--window-size — headless has no real window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--disable-notifications — kills permission popups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761488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BE CAREFUL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099816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Headless can behave differently from a headed run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--no-sandbox is for containers, never a laptop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mix implicit and explicit waits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Manager resolves the driver binary itself — there is nothing else to configure here.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Hooks — the scenario lifecycle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hooks/Hooks.java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DriverManager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"base.url"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tearDown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isFailed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TakesScreenshot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getScreenshotAs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OutputType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"image/png"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1377188"/>
            <a:ext cx="2916936" cy="1339088"/>
          </a:xfrm>
          <a:prstGeom prst="roundRect">
            <a:avLst>
              <a:gd name="adj" fmla="val 4097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503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BELONGS HERE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715516"/>
            <a:ext cx="260604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 creation and teardown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Navigating to the base URL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Screenshot on failure, attached to the report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Order: @Before → Given/When/Then → @After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86258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3573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   WHAT DOES NOT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20090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Logging in — that is a Given step, not a hook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Assertions of any kind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setup only one scenario needs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a tagged hook — @Before("@checkout") — when only one module needs extra setup.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BDD — Login &amp; Checkout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“A scenario a business analyst can read is a scenario worth keeping.”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23 – 30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Gherkin in sixty seconds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🔐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login.feature and checkout.feature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🛒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objects, steps and the runner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Gherkin in sixty seconds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high-level description of one capability, grouping the scenarios that belong to it.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concrete example of a business rule: a context, an event and an expected outcome.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🅖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Given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starting state. “Given the user is on the login page.” Setup, never an action under test.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🅦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event being tested. “When the user logs in with valid credentials.” One action per scenario.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🅣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expected outcome, and the only place an assertion belongs. Chain more with And or But.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📋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 Outline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scenario run once per row of an Examples table — data-driven testing, in plain text.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Background runs before every scenario in a file. Reference: cucumber.io/docs/gherkin/reference/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1 — login.feature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src/test/resources/features/login.feature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SauceDemo Login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is on the SauceDemo login page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@smoke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with valid credentials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logs in as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"standard.user"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products page is displayed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Outline: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is rejected for invalid input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logs in with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"&lt;username&gt;"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"&lt;password&gt;"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error message contains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"&lt;message&gt;"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standard_user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wrong_pass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not match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locked_out_user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secret_sauce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 been locked out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secret_sauce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is required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409414"/>
            <a:ext cx="2916936" cy="1302258"/>
          </a:xfrm>
          <a:prstGeom prst="roundRect">
            <a:avLst>
              <a:gd name="adj" fmla="val 42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8256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NOTICE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747742"/>
            <a:ext cx="2606040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one locator appears in this file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business analyst can read and correct it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Examples table is your negative-test matrix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Scenario + 3 Examples = 4 executed scenarios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857976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3112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KEEP IT CLEAN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196304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“click the button with id user-name”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When per scenario — two means two scenarios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encode step order in the step text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Write the feature file first, with the team. The Java comes after everyone agrees on the behaviour.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2 — checkout.feature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src/test/resources/features/checkout.feature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SauceDemo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is logged in as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"standard.user"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@smoke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Complete an order end to end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adds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"Sauce Labs Backpack"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opens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proceeds to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fills in the checkout information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finishes the order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order confirmation is displayed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Checkout requires a first name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adds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"Sauce Labs Backpack"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opens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proceeds to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submits the form without a first name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error message contains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 Name is required"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302258"/>
          </a:xfrm>
          <a:prstGeom prst="roundRect">
            <a:avLst>
              <a:gd name="adj" fmla="val 42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GOOD PRACTICE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Background removes the repeated login from both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“logged in as” is reused from the login module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names come from the UI, not from an id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Positive and negative paths in the same feature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788920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6207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WATCH FOR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127248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Scenarios depending on a previous scenario's state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 so generic they mean nothing alone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Background longer than the scenarios it serves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modules, two feature files. A third module gets a third file — never one giant feature.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 — LoginPage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pages/LoginPage.java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"user-name"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loginBtn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"login-button"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cssSelector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"[data-test='error']"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loginBtn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errorText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52160" y="1229868"/>
            <a:ext cx="2916936" cy="1633728"/>
          </a:xfrm>
          <a:prstGeom prst="roundRect">
            <a:avLst>
              <a:gd name="adj" fmla="val 335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0302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RULES FOLLOWED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568196"/>
            <a:ext cx="260604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Locators are private — nothing outside can use them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login() names a service, not a sequence of clicks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assertion anywhere in the class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find, type, click and text live in BasePage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30099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830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SIGNS OF TROUBLE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3482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page object that returns a WebElement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method called clickLoginButton()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Assert.assertEquals inside a page class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guidance: selenium.dev/documentation/test_practices/encouraged/page_object_models/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27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 — CheckoutPage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pages/CheckoutPage.java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"first-name"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"last-name"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"postal-code"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"continue"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"finish"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"complete-header"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fillInformation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30960"/>
            <a:ext cx="2916936" cy="1284224"/>
          </a:xfrm>
          <a:prstGeom prst="roundRect">
            <a:avLst>
              <a:gd name="adj" fmla="val 4272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04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NOTICE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669288"/>
            <a:ext cx="260604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class per page, one locator per element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fillInformation takes data — it does not invent it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step definition decides what data to pass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761488"/>
            <a:ext cx="2916936" cy="1284224"/>
          </a:xfrm>
          <a:prstGeom prst="roundRect">
            <a:avLst>
              <a:gd name="adj" fmla="val 427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099816"/>
            <a:ext cx="260604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giant CheckoutPage covering three URLs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Reading config.properties from inside a page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Returning boolean isDisplayed() for assertions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checkout spans three pages — step one, step two and complete. Split them if the class grows.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definitions — LoginSteps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steps/LoginSteps.java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is on the SauceDemo login page"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"base.url"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logs in as {string}"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products page is displayed"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productsDisplayed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"Products"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29868"/>
            <a:ext cx="2916936" cy="1633728"/>
          </a:xfrm>
          <a:prstGeom prst="roundRect">
            <a:avLst>
              <a:gd name="adj" fmla="val 335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0302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STEPS 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568196"/>
            <a:ext cx="260604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Translate one Gherkin sentence into page calls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Hold the assertions — in Then steps only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test data through ConfigReader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{string} captures the quoted value from the feature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30099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830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   WHAT THEY MUST NOT 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3482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Contain By.id or any other locator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their own WebDriver instance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Call Thread.sleep to work around timing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sentence, one method. If a step needs a comment to explain it, rewrite the sentence.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definitions — CheckoutSteps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steps/CheckoutSteps.java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fills in the checkout information"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fillCheckout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fillInformation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"checkout.firstname"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"checkout.lastname"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"checkout.postalcode"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finishes the order"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finishOrder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order confirmation is displayed"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confirmationShown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"Thank you for your order!"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15866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28901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REUSE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554194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“the error message contains …” is shared with login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shared steps in one CommonSteps class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Checkout data comes from config, not from literals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2839752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1290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DUPLICATE STEPS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3178080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sentence in two classes throws at startup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Nearly identical sentences confuse everyone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before writing a new step definition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 matches on the sentence, not the class. Two classes may never define the same sentence.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TestRunner — and running it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0472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runner/TestRunner.java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96746"/>
            <a:ext cx="4937760" cy="1668780"/>
          </a:xfrm>
          <a:prstGeom prst="roundRect">
            <a:avLst>
              <a:gd name="adj" fmla="val 3288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88186"/>
            <a:ext cx="473659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@CucumberOptions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"src/test/resources/features"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{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"id.dibimbing.qa.steps"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"id.dibimbing.qa.hooks"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{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"pretty"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"html:target/cucumber-report.html"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monochrome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AbstractTestNGCucumberTests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3202686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ways to run 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339471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486150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right-click TestRunner -&gt; Run 'TestRunner'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click the green arrow beside a Scenario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mvn clean test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gradle clean test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1294130"/>
            <a:ext cx="2916936" cy="1164527"/>
          </a:xfrm>
          <a:prstGeom prst="roundRect">
            <a:avLst>
              <a:gd name="adj" fmla="val 4711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6728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RUNNER OPTIONS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1632458"/>
            <a:ext cx="2606040" cy="73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features — where the .feature files live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glue — packages holding steps and hooks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plugin — the report formats to produce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2604960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78113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COMMON ERRORS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2943289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“Undefined step” — the glue path is wrong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“No features found” — features are under src/test/java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Duplicate step definition — same sentence twice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target/cucumber-report.html after the run — that file is what you attach to a bug report.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Skeleton &amp; References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“Standing on the shoulders of the official docs.”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31 – 35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recommended folder skeleton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practices, do and don't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🔗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documentation links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best-practice skeleton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tree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saucedemo-bdd-framework/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build.gradle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src/test/java/id/dibimbing/qa/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DriverManager.java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WaitUtils.java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login.feature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checkout.feature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config.properties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output, git-ignored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440370"/>
          </a:xfrm>
          <a:prstGeom prst="roundRect">
            <a:avLst>
              <a:gd name="adj" fmla="val 3809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THIS SHAPE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101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package per responsibility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page object per page, one feature per module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new module adds one feature and one steps class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Nothing in src/main — this repository only tests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927033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0018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SMELLS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265361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utils package larger than the pages package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classes named Steps1, Steps2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Locators appearing anywhere outside pages/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.gitignore on day one: target/, build/, .idea/, *.iml, test-output/, screenshots/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32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Scaling checklist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606040"/>
                <a:gridCol w="313639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When you have…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Add this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 that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More than 20 scenarios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Tags: @smoke, @regression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CI runs smoke in minutes, regression nightly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More than 5 page objects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BasePage with shared actions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find, click, type and wait exist once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Flaky timing failures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WaitUtils with explicit waits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Thread.sleep survives code review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Several environments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config-staging / config-prod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One -D flag switches the whole target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Slow full runs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Parallel scenarios via TestNG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ThreadLocal driver already makes this safe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Repeated test data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data package or JSON files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Data changes without touching 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Failures nobody can debug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Screenshot and log on failure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report is enough to file the bug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second team joining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README with the run commands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Onboarding takes an hour, not a week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each of these when the pain appears — not on day one. Premature structure costs as much as none.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practices — do and don’t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one version 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Declare every library version in &lt;properties&gt; or ext { }. An upgrade becomes a one-line diff.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hard-code anything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URLs, credentials, timeouts and paths belong in config.properties, never in a Java file.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explicit waits only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WebDriverWait with a named condition. Delete every Thread.sleep you find in review.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assert in page objects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Assertions belong in Then steps. A page object that asserts cannot be reused.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independent scenarios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scenario gets a fresh browser and its own state. Execution order must never matter.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one giant feature file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file per module. When a feature file needs a scroll bar, it needs splitting.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test of a good framework: a new joiner adds a working scenario on day one without asking where anything goes.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34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 — Selenium &amp; BDD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376672"/>
              </a:tblGrid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Topic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Official link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documentation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Install Selenium (Maven / Gradle)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https://www.selenium.dev/documentation/webdriver/getting_started/install_library/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Manager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https://www.selenium.dev/documentation/selenium_manager/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Page Object Models — official guidance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https://www.selenium.dev/documentation/test_practices/encouraged/page_object_models/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W3C WebDriver specification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https://www.w3.org/TR/webdriver2/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source &amp; examples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https://github.com/SeleniumHQ/selenium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Cucumber for Java — installation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https://cucumber.io/docs/installation/java/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Gherkin reference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https://cucumber.io/docs/gherkin/reference/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TestNG documentation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https://testng.org/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🔗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Prefer official documentation over blog posts. Blogs age badly; Selenium 3 advice is still the top search result.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35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 — build tools &amp; IDE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37667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Topic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Official link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Introduction to the POM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https://maven.apache.org/guides/introduction/introduction-to-the-pom.html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standard directory layout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https://maven.apache.org/guides/introduction/introduction-to-the-standard-directory-layout.html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Surefire plugin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https://maven.apache.org/surefire/maven-surefire-plugin/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 — testing in Java projects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https://docs.gradle.org/current/userguide/java_testing.html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IntelliJ IDEA — Maven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https://www.jetbrains.com/help/idea/maven-support.html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IntelliJ IDEA — Gradle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https://www.jetbrains.com/help/idea/gradle.html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Central — search any artifact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https://central.sonatype.com/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application under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https://www.saucedemo.com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📌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Versions used in this deck, verified August 2026: Selenium 4.47.0 · Cucumber 7.34.6 · TestNG 7.11.0 · Surefire 3.5.6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WRAP 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🎓  Key Takeaways — A07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layers, one protocol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 code → binding → driver → browser, over the W3C WebDriver protocol. Every error maps to one of those hops.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place for every version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&lt;properties&gt; or Gradle ext { }. A stack upgrade should be a one-line diff, not a search-and-replace.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Nothing hard-coded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URLs, credentials and timeouts live in config.properties, overridable with -D from CI.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🧵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ThreadLocal from day one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costs ten lines now and buys you parallel execution later without a rewrite.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Features are for humans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a locator appears in a .feature file, the whole point of BDD has been lost.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 by responsibility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config, driver, pages, steps, hooks, runner, utils. A new module should touch two files, not twenty.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🏁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framework is not extra work. It is the work that makes the next two hundred tests cheap.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548640"/>
            <a:ext cx="12682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629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Terima kasih!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7629" y="2670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 — questions are welcome.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7629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069080" y="1463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Questions?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 under test: www.saucedemo.com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📚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references: selenium.dev/documentation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github.com/ariefrahakim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 Java Automation Framework — A07</dc:title>
  <dc:subject>PptxGenJS Presentation</dc:subject>
  <dc:creator>Arief Rahman Hakim</dc:creator>
  <cp:lastModifiedBy>Arief Rahman Hakim</cp:lastModifiedBy>
  <cp:revision>1</cp:revision>
  <dcterms:created xsi:type="dcterms:W3CDTF">2026-08-13T13:26:48Z</dcterms:created>
  <dcterms:modified xsi:type="dcterms:W3CDTF">2026-08-13T13:26:48Z</dcterms:modified>
</cp:coreProperties>
</file>